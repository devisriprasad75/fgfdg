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6" r:id="rId2"/>
    <p:sldId id="281" r:id="rId3"/>
    <p:sldId id="282" r:id="rId4"/>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11" r:id="rId33"/>
    <p:sldId id="312" r:id="rId34"/>
    <p:sldId id="313" r:id="rId35"/>
  </p:sldIdLst>
  <p:sldSz cx="12192000" cy="6858000"/>
  <p:notesSz cx="6858000" cy="9144000"/>
  <p:embeddedFontLst>
    <p:embeddedFont>
      <p:font typeface="Inter" charset="0"/>
      <p:regular r:id="rId37"/>
      <p:bold r:id="rId38"/>
      <p:italic r:id="rId39"/>
      <p:boldItalic r:id="rId40"/>
    </p:embeddedFont>
    <p:embeddedFont>
      <p:font typeface="Calibri" pitchFamily="34" charset="0"/>
      <p:regular r:id="rId41"/>
      <p:bold r:id="rId42"/>
      <p:italic r:id="rId43"/>
      <p:boldItalic r:id="rId44"/>
    </p:embeddedFont>
    <p:embeddedFont>
      <p:font typeface="Bell MT" pitchFamily="18" charset="0"/>
      <p:regular r:id="rId45"/>
      <p:bold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6" roundtripDataSignature="AMtx7mhpGYJ5bflZoDfpaMxxm/2nb8+zq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5" d="100"/>
          <a:sy n="85" d="100"/>
        </p:scale>
        <p:origin x="-708"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76"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79"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77" Type="http://schemas.openxmlformats.org/officeDocument/2006/relationships/presProps" Target="presProps.xml"/><Relationship Id="rId8" Type="http://schemas.openxmlformats.org/officeDocument/2006/relationships/slide" Target="slides/slide7.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6" name="Google Shape;386;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3" name="Google Shape;413;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9" name="Google Shape;419;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4" name="Google Shape;42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 name="Google Shape;432;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9" name="Google Shape;43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1" name="Google Shape;451;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1" name="Google Shape;461;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2" name="Google Shape;492;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5" name="Google Shape;505;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1" name="Google Shape;511;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7" name="Google Shape;517;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3" name="Google Shape;523;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9" name="Google Shape;529;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8" name="Google Shape;538;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7" name="Google Shape;547;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3" name="Google Shape;583;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1" name="Google Shape;591;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6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6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6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6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6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8"/>
          <p:cNvSpPr>
            <a:spLocks noGrp="1"/>
          </p:cNvSpPr>
          <p:nvPr>
            <p:ph type="pic" idx="2"/>
          </p:nvPr>
        </p:nvSpPr>
        <p:spPr>
          <a:xfrm>
            <a:off x="1792288" y="612775"/>
            <a:ext cx="5486400" cy="4114800"/>
          </a:xfrm>
          <a:prstGeom prst="rect">
            <a:avLst/>
          </a:prstGeom>
          <a:noFill/>
          <a:ln>
            <a:noFill/>
          </a:ln>
        </p:spPr>
      </p:sp>
      <p:sp>
        <p:nvSpPr>
          <p:cNvPr id="64" name="Google Shape;64;p6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5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
          <p:cNvSpPr txBox="1"/>
          <p:nvPr/>
        </p:nvSpPr>
        <p:spPr>
          <a:xfrm>
            <a:off x="2523083" y="2629048"/>
            <a:ext cx="7502969" cy="7542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Clr>
                <a:srgbClr val="000000"/>
              </a:buClr>
              <a:buSzPts val="5400"/>
              <a:buFont typeface="Arial"/>
              <a:buNone/>
            </a:pPr>
            <a:r>
              <a:rPr lang="en-IN" sz="5400" b="1" i="0" u="none" strike="noStrike" cap="none">
                <a:solidFill>
                  <a:srgbClr val="F8FAFC"/>
                </a:solidFill>
                <a:latin typeface="Inter"/>
                <a:ea typeface="Inter"/>
                <a:cs typeface="Inter"/>
                <a:sym typeface="Inter"/>
              </a:rPr>
              <a:t>Machine Learning Lab</a:t>
            </a:r>
            <a:endParaRPr sz="1400" b="0" i="0" u="none" strike="noStrike" cap="none">
              <a:solidFill>
                <a:srgbClr val="000000"/>
              </a:solidFill>
              <a:latin typeface="Arial"/>
              <a:ea typeface="Arial"/>
              <a:cs typeface="Arial"/>
              <a:sym typeface="Arial"/>
            </a:endParaRPr>
          </a:p>
        </p:txBody>
      </p:sp>
      <p:sp>
        <p:nvSpPr>
          <p:cNvPr id="86" name="Google Shape;86;p1"/>
          <p:cNvSpPr txBox="1"/>
          <p:nvPr/>
        </p:nvSpPr>
        <p:spPr>
          <a:xfrm>
            <a:off x="2523083" y="3611909"/>
            <a:ext cx="7145684" cy="731341"/>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Clr>
                <a:srgbClr val="000000"/>
              </a:buClr>
              <a:buSzPts val="1800"/>
              <a:buFont typeface="Arial"/>
              <a:buNone/>
            </a:pPr>
            <a:r>
              <a:rPr lang="en-IN" sz="1800" b="0" i="0" u="none" strike="noStrike" cap="none">
                <a:solidFill>
                  <a:srgbClr val="94A3B8"/>
                </a:solidFill>
                <a:latin typeface="Inter"/>
                <a:ea typeface="Inter"/>
                <a:cs typeface="Inter"/>
                <a:sym typeface="Inter"/>
              </a:rPr>
              <a:t>Department of Information Technology</a:t>
            </a:r>
            <a:r>
              <a:rPr lang="en-IN" sz="1800" b="0" i="0" u="none" strike="noStrike" cap="none">
                <a:solidFill>
                  <a:schemeClr val="dk1"/>
                </a:solidFill>
                <a:latin typeface="Calibri"/>
                <a:ea typeface="Calibri"/>
                <a:cs typeface="Calibri"/>
                <a:sym typeface="Calibri"/>
              </a:rPr>
              <a:t/>
            </a:r>
            <a:br>
              <a:rPr lang="en-IN" sz="1800" b="0" i="0" u="none" strike="noStrike" cap="none">
                <a:solidFill>
                  <a:schemeClr val="dk1"/>
                </a:solidFill>
                <a:latin typeface="Calibri"/>
                <a:ea typeface="Calibri"/>
                <a:cs typeface="Calibri"/>
                <a:sym typeface="Calibri"/>
              </a:rPr>
            </a:br>
            <a:r>
              <a:rPr lang="en-IN" sz="1800" b="0" i="0" u="none" strike="noStrike" cap="none">
                <a:solidFill>
                  <a:srgbClr val="94A3B8"/>
                </a:solidFill>
                <a:latin typeface="Inter"/>
                <a:ea typeface="Inter"/>
                <a:cs typeface="Inter"/>
                <a:sym typeface="Inter"/>
              </a:rPr>
              <a:t> Dhanekula Institute of Engineering and Technology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6"/>
          <p:cNvSpPr txBox="1"/>
          <p:nvPr/>
        </p:nvSpPr>
        <p:spPr>
          <a:xfrm>
            <a:off x="304038" y="314462"/>
            <a:ext cx="1166545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EXP1:</a:t>
            </a:r>
            <a:r>
              <a:rPr lang="en-IN" sz="1800" b="0" i="0" u="none" strike="noStrike" cap="none">
                <a:solidFill>
                  <a:srgbClr val="000000"/>
                </a:solidFill>
                <a:latin typeface="Times New Roman"/>
                <a:ea typeface="Times New Roman"/>
                <a:cs typeface="Times New Roman"/>
                <a:sym typeface="Times New Roman"/>
              </a:rPr>
              <a:t> To compute and understand the basic measures of Central Tendency (Mean, Median, Mode) and Dispersion (Variance, Standard Deviation) using Python</a:t>
            </a:r>
            <a:endParaRPr sz="1800" b="0" i="0" u="none" strike="noStrike" cap="none">
              <a:solidFill>
                <a:srgbClr val="000000"/>
              </a:solidFill>
              <a:latin typeface="Arial"/>
              <a:ea typeface="Arial"/>
              <a:cs typeface="Arial"/>
              <a:sym typeface="Arial"/>
            </a:endParaRPr>
          </a:p>
        </p:txBody>
      </p:sp>
      <p:sp>
        <p:nvSpPr>
          <p:cNvPr id="389" name="Google Shape;389;p26"/>
          <p:cNvSpPr txBox="1"/>
          <p:nvPr/>
        </p:nvSpPr>
        <p:spPr>
          <a:xfrm>
            <a:off x="477774" y="960793"/>
            <a:ext cx="11299698" cy="5724644"/>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IN" sz="1400" b="1" i="0" u="none" strike="noStrike" cap="none">
                <a:solidFill>
                  <a:srgbClr val="000000"/>
                </a:solidFill>
                <a:latin typeface="Times New Roman"/>
                <a:ea typeface="Times New Roman"/>
                <a:cs typeface="Times New Roman"/>
                <a:sym typeface="Times New Roman"/>
              </a:rPr>
              <a:t>Program:</a:t>
            </a:r>
            <a:endParaRPr sz="14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import numpy as np					         	# </a:t>
            </a:r>
            <a:r>
              <a:rPr lang="en-IN" sz="1600" b="0" i="0" u="none" strike="noStrike" cap="none">
                <a:solidFill>
                  <a:srgbClr val="FF0000"/>
                </a:solidFill>
                <a:latin typeface="Times New Roman"/>
                <a:ea typeface="Times New Roman"/>
                <a:cs typeface="Times New Roman"/>
                <a:sym typeface="Times New Roman"/>
              </a:rPr>
              <a:t>Library for numerical computing</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from scipy import stats					# </a:t>
            </a:r>
            <a:r>
              <a:rPr lang="en-IN" sz="1600" b="0" i="0" u="none" strike="noStrike" cap="none">
                <a:solidFill>
                  <a:srgbClr val="FF0000"/>
                </a:solidFill>
                <a:latin typeface="Times New Roman"/>
                <a:ea typeface="Times New Roman"/>
                <a:cs typeface="Times New Roman"/>
                <a:sym typeface="Times New Roman"/>
              </a:rPr>
              <a:t>Library for statistical analysis</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data = [85, 92, 78, 85, 95, 88, 72, 85, 90, 80]				# </a:t>
            </a:r>
            <a:r>
              <a:rPr lang="en-IN" sz="1600" b="0" i="0" u="none" strike="noStrike" cap="none">
                <a:solidFill>
                  <a:srgbClr val="FF0000"/>
                </a:solidFill>
                <a:latin typeface="Times New Roman"/>
                <a:ea typeface="Times New Roman"/>
                <a:cs typeface="Times New Roman"/>
                <a:sym typeface="Times New Roman"/>
              </a:rPr>
              <a:t>Dataset</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data_array = np.array(data)					# </a:t>
            </a:r>
            <a:r>
              <a:rPr lang="en-IN" sz="1600" b="0" i="0" u="none" strike="noStrike" cap="none">
                <a:solidFill>
                  <a:srgbClr val="FF0000"/>
                </a:solidFill>
                <a:latin typeface="Times New Roman"/>
                <a:ea typeface="Times New Roman"/>
                <a:cs typeface="Times New Roman"/>
                <a:sym typeface="Times New Roman"/>
              </a:rPr>
              <a:t>Converting lists to NumPy array</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mean_value = np.mean(data_array)				#</a:t>
            </a:r>
            <a:r>
              <a:rPr lang="en-IN" sz="1600" b="0" i="0" u="none" strike="noStrike" cap="none">
                <a:solidFill>
                  <a:srgbClr val="000000"/>
                </a:solidFill>
                <a:latin typeface="Arial"/>
                <a:ea typeface="Arial"/>
                <a:cs typeface="Arial"/>
                <a:sym typeface="Arial"/>
              </a:rPr>
              <a:t> </a:t>
            </a:r>
            <a:r>
              <a:rPr lang="en-IN" sz="1600" b="0" i="0" u="none" strike="noStrike" cap="none">
                <a:solidFill>
                  <a:srgbClr val="FF0000"/>
                </a:solidFill>
                <a:latin typeface="Times New Roman"/>
                <a:ea typeface="Times New Roman"/>
                <a:cs typeface="Times New Roman"/>
                <a:sym typeface="Times New Roman"/>
              </a:rPr>
              <a:t>Average</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median_value = np.median(data_array)				# </a:t>
            </a:r>
            <a:r>
              <a:rPr lang="en-IN" sz="1600" b="0" i="0" u="none" strike="noStrike" cap="none">
                <a:solidFill>
                  <a:srgbClr val="FF0000"/>
                </a:solidFill>
                <a:latin typeface="Times New Roman"/>
                <a:ea typeface="Times New Roman"/>
                <a:cs typeface="Times New Roman"/>
                <a:sym typeface="Times New Roman"/>
              </a:rPr>
              <a:t>If kept in order middle value</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mode_result = stats.mode(data_array)				#</a:t>
            </a:r>
            <a:r>
              <a:rPr lang="en-IN" sz="1600" b="0" i="0" u="none" strike="noStrike" cap="none">
                <a:solidFill>
                  <a:srgbClr val="000000"/>
                </a:solidFill>
                <a:latin typeface="Arial"/>
                <a:ea typeface="Arial"/>
                <a:cs typeface="Arial"/>
                <a:sym typeface="Arial"/>
              </a:rPr>
              <a:t> </a:t>
            </a:r>
            <a:r>
              <a:rPr lang="en-IN" sz="1600" b="0" i="0" u="none" strike="noStrike" cap="none">
                <a:solidFill>
                  <a:srgbClr val="FF0000"/>
                </a:solidFill>
                <a:latin typeface="Times New Roman"/>
                <a:ea typeface="Times New Roman"/>
                <a:cs typeface="Times New Roman"/>
                <a:sym typeface="Times New Roman"/>
              </a:rPr>
              <a:t>stats.mode() will give repeated number</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print(f"Mean: {mean_value:.2f}")				#</a:t>
            </a:r>
            <a:r>
              <a:rPr lang="en-IN" sz="1600" b="0" i="0" u="none" strike="noStrike" cap="none">
                <a:solidFill>
                  <a:srgbClr val="000000"/>
                </a:solidFill>
                <a:latin typeface="Courier New"/>
                <a:ea typeface="Courier New"/>
                <a:cs typeface="Courier New"/>
                <a:sym typeface="Courier New"/>
              </a:rPr>
              <a:t> </a:t>
            </a:r>
            <a:r>
              <a:rPr lang="en-IN" sz="1600" b="0" i="0" u="none" strike="noStrike" cap="none">
                <a:solidFill>
                  <a:srgbClr val="FF0000"/>
                </a:solidFill>
                <a:latin typeface="Times New Roman"/>
                <a:ea typeface="Times New Roman"/>
                <a:cs typeface="Times New Roman"/>
                <a:sym typeface="Times New Roman"/>
              </a:rPr>
              <a:t>:.2f (decimal point)</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print(f"Median: {median_value:.2f}")</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print(f"Mode: {mode_result.mode[0]}")</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variance_value = np.var(data_array, ddof=1) 		 	# </a:t>
            </a:r>
            <a:r>
              <a:rPr lang="en-IN" sz="1600" b="0" i="0" u="none" strike="noStrike" cap="none">
                <a:solidFill>
                  <a:srgbClr val="FF0000"/>
                </a:solidFill>
                <a:latin typeface="Times New Roman"/>
                <a:ea typeface="Times New Roman"/>
                <a:cs typeface="Times New Roman"/>
                <a:sym typeface="Times New Roman"/>
              </a:rPr>
              <a:t>Sample variance</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std_dev_value = np.std(data_array, ddof=1)   			# </a:t>
            </a:r>
            <a:r>
              <a:rPr lang="en-IN" sz="1600" b="0" i="0" u="none" strike="noStrike" cap="none">
                <a:solidFill>
                  <a:srgbClr val="FF0000"/>
                </a:solidFill>
                <a:latin typeface="Times New Roman"/>
                <a:ea typeface="Times New Roman"/>
                <a:cs typeface="Times New Roman"/>
                <a:sym typeface="Times New Roman"/>
              </a:rPr>
              <a:t>Sample standard deviation</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print(f"Variance: {variance_value:.2f}")</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print(f"Standard Deviation: {std_dev_value:.2f}")</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27" descr="A math problem with numbers and symbols&#10;&#10;AI-generated content may be incorrect."/>
          <p:cNvPicPr preferRelativeResize="0"/>
          <p:nvPr/>
        </p:nvPicPr>
        <p:blipFill rotWithShape="1">
          <a:blip r:embed="rId3">
            <a:alphaModFix/>
          </a:blip>
          <a:srcRect/>
          <a:stretch/>
        </p:blipFill>
        <p:spPr>
          <a:xfrm>
            <a:off x="937748" y="667512"/>
            <a:ext cx="9806451" cy="524991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pic>
        <p:nvPicPr>
          <p:cNvPr id="399" name="Google Shape;399;p28" descr="A white paper with black text&#10;&#10;AI-generated content may be incorrect."/>
          <p:cNvPicPr preferRelativeResize="0"/>
          <p:nvPr/>
        </p:nvPicPr>
        <p:blipFill rotWithShape="1">
          <a:blip r:embed="rId3">
            <a:alphaModFix/>
          </a:blip>
          <a:srcRect/>
          <a:stretch/>
        </p:blipFill>
        <p:spPr>
          <a:xfrm>
            <a:off x="384048" y="546017"/>
            <a:ext cx="11128248" cy="561673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pic>
        <p:nvPicPr>
          <p:cNvPr id="404" name="Google Shape;404;p29" descr="A math problem with a square equation&#10;&#10;AI-generated content may be incorrect."/>
          <p:cNvPicPr preferRelativeResize="0"/>
          <p:nvPr/>
        </p:nvPicPr>
        <p:blipFill rotWithShape="1">
          <a:blip r:embed="rId3">
            <a:alphaModFix/>
          </a:blip>
          <a:srcRect/>
          <a:stretch/>
        </p:blipFill>
        <p:spPr>
          <a:xfrm>
            <a:off x="1307592" y="13108"/>
            <a:ext cx="8220456" cy="681969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0"/>
          <p:cNvSpPr txBox="1"/>
          <p:nvPr/>
        </p:nvSpPr>
        <p:spPr>
          <a:xfrm>
            <a:off x="166878" y="265806"/>
            <a:ext cx="11802618" cy="7115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800"/>
              <a:buFont typeface="Arial"/>
              <a:buNone/>
            </a:pPr>
            <a:r>
              <a:rPr lang="en-IN" sz="1800" b="1" i="0" u="none" strike="noStrike" cap="none">
                <a:solidFill>
                  <a:srgbClr val="000000"/>
                </a:solidFill>
                <a:latin typeface="Times New Roman"/>
                <a:ea typeface="Times New Roman"/>
                <a:cs typeface="Times New Roman"/>
                <a:sym typeface="Times New Roman"/>
              </a:rPr>
              <a:t>EXP 2 :</a:t>
            </a:r>
            <a:r>
              <a:rPr lang="en-IN" sz="1800" b="0" i="0" u="none" strike="noStrike" cap="none">
                <a:solidFill>
                  <a:srgbClr val="000000"/>
                </a:solidFill>
                <a:latin typeface="Times New Roman"/>
                <a:ea typeface="Times New Roman"/>
                <a:cs typeface="Times New Roman"/>
                <a:sym typeface="Times New Roman"/>
              </a:rPr>
              <a:t> To apply fundamental data preprocessing techniques  Attribute selection, Handling Missing Values, Discretization, Elimination of Outliers using Python libraries.</a:t>
            </a:r>
            <a:endParaRPr sz="1800" b="0" i="0" u="none" strike="noStrike" cap="none">
              <a:solidFill>
                <a:srgbClr val="000000"/>
              </a:solidFill>
              <a:latin typeface="Arial"/>
              <a:ea typeface="Arial"/>
              <a:cs typeface="Arial"/>
              <a:sym typeface="Arial"/>
            </a:endParaRPr>
          </a:p>
        </p:txBody>
      </p:sp>
      <p:sp>
        <p:nvSpPr>
          <p:cNvPr id="410" name="Google Shape;410;p30"/>
          <p:cNvSpPr txBox="1"/>
          <p:nvPr/>
        </p:nvSpPr>
        <p:spPr>
          <a:xfrm>
            <a:off x="261747" y="1144949"/>
            <a:ext cx="11301984" cy="5169107"/>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IN" sz="1600" b="1" i="0" u="none" strike="noStrike" cap="none">
                <a:solidFill>
                  <a:srgbClr val="FF0000"/>
                </a:solidFill>
                <a:latin typeface="Times New Roman"/>
                <a:ea typeface="Times New Roman"/>
                <a:cs typeface="Times New Roman"/>
                <a:sym typeface="Times New Roman"/>
              </a:rPr>
              <a:t>Pre-Processing Techniques</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Before analyzing a dataset, we must clean and prepare it. This process is called data pre-processing.</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1" i="0" u="none" strike="noStrike" cap="none">
                <a:solidFill>
                  <a:srgbClr val="FF0000"/>
                </a:solidFill>
                <a:latin typeface="Times New Roman"/>
                <a:ea typeface="Times New Roman"/>
                <a:cs typeface="Times New Roman"/>
                <a:sym typeface="Times New Roman"/>
              </a:rPr>
              <a:t>a) Attribute Selection</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Attribute selection means removing unwanted or unnecessary columns from the dataset, such as ID numbers or names, which do not affect the analysis.</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1" i="0" u="none" strike="noStrike" cap="none">
                <a:solidFill>
                  <a:srgbClr val="FF0000"/>
                </a:solidFill>
                <a:latin typeface="Times New Roman"/>
                <a:ea typeface="Times New Roman"/>
                <a:cs typeface="Times New Roman"/>
                <a:sym typeface="Times New Roman"/>
              </a:rPr>
              <a:t>b) Handling Missing Values</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Missing values are empty fields in the data. We fill them using statistical methods like mean, median, or mode so that no data remains empty.</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1" i="0" u="none" strike="noStrike" cap="none">
                <a:solidFill>
                  <a:srgbClr val="FF0000"/>
                </a:solidFill>
                <a:latin typeface="Times New Roman"/>
                <a:ea typeface="Times New Roman"/>
                <a:cs typeface="Times New Roman"/>
                <a:sym typeface="Times New Roman"/>
              </a:rPr>
              <a:t>c) Discretization</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Discretization is the process of converting continuous numeric data into groups or categories (called bins). </a:t>
            </a:r>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For example, converting marks into grade ranges.</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1" i="0" u="none" strike="noStrike" cap="none">
                <a:solidFill>
                  <a:srgbClr val="FF0000"/>
                </a:solidFill>
                <a:latin typeface="Times New Roman"/>
                <a:ea typeface="Times New Roman"/>
                <a:cs typeface="Times New Roman"/>
                <a:sym typeface="Times New Roman"/>
              </a:rPr>
              <a:t>d) Elimination of Outliers</a:t>
            </a:r>
            <a:endParaRPr sz="1600" b="0" i="0" u="none" strike="noStrike" cap="none">
              <a:solidFill>
                <a:srgbClr val="FF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Outliers are incorrect or extreme values that affect analysis.</a:t>
            </a:r>
            <a:endParaRPr sz="16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These values are removed or corrected to make the data more accurate.</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1"/>
          <p:cNvSpPr txBox="1"/>
          <p:nvPr/>
        </p:nvSpPr>
        <p:spPr>
          <a:xfrm>
            <a:off x="338328" y="30742"/>
            <a:ext cx="11704320"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import pandas as pd</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from sklearn.preprocessing import KBinsDiscretizer</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 = pd.read_csv(r"C:\Users\pvste\OneDrive\Desktop\exp2.csv")	</a:t>
            </a:r>
            <a:r>
              <a:rPr lang="en-IN" sz="1600" b="0" i="0" u="none" strike="noStrike" cap="none">
                <a:solidFill>
                  <a:srgbClr val="FF0000"/>
                </a:solidFill>
                <a:latin typeface="Arial"/>
                <a:ea typeface="Arial"/>
                <a:cs typeface="Arial"/>
                <a:sym typeface="Arial"/>
              </a:rPr>
              <a:t># Load Dataset (Give the path from desktop)</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 = df.drop(["Roll No", "Name of the Student"], axis=1)		</a:t>
            </a:r>
            <a:r>
              <a:rPr lang="en-IN" sz="1600" b="0" i="0" u="none" strike="noStrike" cap="none">
                <a:solidFill>
                  <a:srgbClr val="FF0000"/>
                </a:solidFill>
                <a:latin typeface="Arial"/>
                <a:ea typeface="Arial"/>
                <a:cs typeface="Arial"/>
                <a:sym typeface="Arial"/>
              </a:rPr>
              <a:t># Remove Unwanted Columns</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df["Age"] = df["Age"].fillna(df["Age"].median())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df["Marks"] = df["Marks"].fillna(df["Marks"].median())</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df["Grade"] = df["Grade"].fillna(df["Grade"].mode()[0])</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df["Status"] = df["Status"].fillna(df["Status"].mode()[0])</a:t>
            </a:r>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600" b="0" i="0" u="none" strike="noStrike" cap="none">
                <a:solidFill>
                  <a:srgbClr val="FF0000"/>
                </a:solidFill>
                <a:latin typeface="Arial"/>
                <a:ea typeface="Arial"/>
                <a:cs typeface="Arial"/>
                <a:sym typeface="Arial"/>
              </a:rPr>
              <a:t># Cap Outliers (&gt;100 Marks)</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df.loc[df["Marks"] &gt; 100, "Marks"] = 100</a:t>
            </a:r>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600" b="0" i="0" u="none" strike="noStrike" cap="none">
                <a:solidFill>
                  <a:srgbClr val="FF0000"/>
                </a:solidFill>
                <a:latin typeface="Arial"/>
                <a:ea typeface="Arial"/>
                <a:cs typeface="Arial"/>
                <a:sym typeface="Arial"/>
              </a:rPr>
              <a:t># Discretize (Bin) Marks into 5 groups</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kb = KBinsDiscretizer(n_bins=5, encode='ordinal', strategy='quantile')</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df["Marks_Bin"] = kb.fit_transform(df[["Marks"]]).astype(int)</a:t>
            </a:r>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600" b="0" i="0" u="none" strike="noStrike" cap="none">
                <a:solidFill>
                  <a:srgbClr val="FF0000"/>
                </a:solidFill>
                <a:latin typeface="Arial"/>
                <a:ea typeface="Arial"/>
                <a:cs typeface="Arial"/>
                <a:sym typeface="Arial"/>
              </a:rPr>
              <a:t># Final Output</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Arial"/>
                <a:ea typeface="Arial"/>
                <a:cs typeface="Arial"/>
                <a:sym typeface="Arial"/>
              </a:rPr>
              <a:t>print(df.head())</a:t>
            </a:r>
            <a:endParaRPr/>
          </a:p>
        </p:txBody>
      </p:sp>
      <p:sp>
        <p:nvSpPr>
          <p:cNvPr id="416" name="Google Shape;416;p31"/>
          <p:cNvSpPr txBox="1"/>
          <p:nvPr/>
        </p:nvSpPr>
        <p:spPr>
          <a:xfrm>
            <a:off x="338328" y="5339888"/>
            <a:ext cx="6094476"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Courier New"/>
                <a:ea typeface="Courier New"/>
                <a:cs typeface="Courier New"/>
                <a:sym typeface="Courier New"/>
              </a:rPr>
              <a:t>Age  Marks Grade Status  Marks_Bin</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Courier New"/>
                <a:ea typeface="Courier New"/>
                <a:cs typeface="Courier New"/>
                <a:sym typeface="Courier New"/>
              </a:rPr>
              <a:t>0  19.0     77     B   Pass          3</a:t>
            </a:r>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Courier New"/>
                <a:ea typeface="Courier New"/>
                <a:cs typeface="Courier New"/>
                <a:sym typeface="Courier New"/>
              </a:rPr>
              <a:t>1  19.0     67     C   Pass          2</a:t>
            </a:r>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Courier New"/>
                <a:ea typeface="Courier New"/>
                <a:cs typeface="Courier New"/>
                <a:sym typeface="Courier New"/>
              </a:rPr>
              <a:t>2  19.0      4     F   Fail          0</a:t>
            </a:r>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Courier New"/>
                <a:ea typeface="Courier New"/>
                <a:cs typeface="Courier New"/>
                <a:sym typeface="Courier New"/>
              </a:rPr>
              <a:t>3  19.0     60     C   Pass          1</a:t>
            </a:r>
            <a:endParaRPr/>
          </a:p>
          <a:p>
            <a:pPr marL="0" marR="0" lvl="0" indent="0" algn="l"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Courier New"/>
                <a:ea typeface="Courier New"/>
                <a:cs typeface="Courier New"/>
                <a:sym typeface="Courier New"/>
              </a:rPr>
              <a:t>4  20.0     91     S   Pass          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32"/>
          <p:cNvSpPr txBox="1"/>
          <p:nvPr/>
        </p:nvSpPr>
        <p:spPr>
          <a:xfrm>
            <a:off x="448056" y="366623"/>
            <a:ext cx="11183112" cy="56938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import pandas as pd </a:t>
            </a:r>
            <a:r>
              <a:rPr lang="en-IN" sz="1400" b="0" i="0" u="none" strike="noStrike" cap="none">
                <a:solidFill>
                  <a:srgbClr val="FF0000"/>
                </a:solidFill>
                <a:latin typeface="Arial"/>
                <a:ea typeface="Arial"/>
                <a:cs typeface="Arial"/>
                <a:sym typeface="Arial"/>
              </a:rPr>
              <a:t>#used to work with tables (DataFrames)</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import numpy as np </a:t>
            </a:r>
            <a:r>
              <a:rPr lang="en-IN" sz="1400" b="0" i="0" u="none" strike="noStrike" cap="none">
                <a:solidFill>
                  <a:srgbClr val="FF0000"/>
                </a:solidFill>
                <a:latin typeface="Arial"/>
                <a:ea typeface="Arial"/>
                <a:cs typeface="Arial"/>
                <a:sym typeface="Arial"/>
              </a:rPr>
              <a:t>#used for numerical operations (like np.nan)</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from sklearn.preprocessing import KBinsDiscretizer </a:t>
            </a:r>
            <a:r>
              <a:rPr lang="en-IN" sz="1400" b="0" i="0" u="none" strike="noStrike" cap="none">
                <a:solidFill>
                  <a:srgbClr val="FF0000"/>
                </a:solidFill>
                <a:latin typeface="Arial"/>
                <a:ea typeface="Arial"/>
                <a:cs typeface="Arial"/>
                <a:sym typeface="Arial"/>
              </a:rPr>
              <a:t>#converts continuous values into groups (bins)</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data = { </a:t>
            </a:r>
            <a:r>
              <a:rPr lang="en-IN" sz="1400" b="0" i="0" u="none" strike="noStrike" cap="none">
                <a:solidFill>
                  <a:srgbClr val="FF0000"/>
                </a:solidFill>
                <a:latin typeface="Arial"/>
                <a:ea typeface="Arial"/>
                <a:cs typeface="Arial"/>
                <a:sym typeface="Arial"/>
              </a:rPr>
              <a:t>#Creating the Dataset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'Age': [25, 30, 35, 40, 22, 60],</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'Salary': [50000, 60000, np.nan, 120000, 30000, 1000000],</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'Experience': [2, 5, 8, 15, 1, 40],</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'Department': ['IT', 'HR', 'IT', 'Finance', 'HR', 'IT']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df = pd.DataFrame(data) </a:t>
            </a:r>
            <a:r>
              <a:rPr lang="en-IN" sz="1400" b="0" i="0" u="none" strike="noStrike" cap="none">
                <a:solidFill>
                  <a:srgbClr val="FF0000"/>
                </a:solidFill>
                <a:latin typeface="Arial"/>
                <a:ea typeface="Arial"/>
                <a:cs typeface="Arial"/>
                <a:sym typeface="Arial"/>
              </a:rPr>
              <a:t>#Creating a DataFrame</a:t>
            </a:r>
            <a:endParaRPr sz="14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print("Original Dataset:\n", df)</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df_selected = df[['Age', 'Salary', 'Experience']].copy() </a:t>
            </a:r>
            <a:r>
              <a:rPr lang="en-IN" sz="1400" b="0" i="0" u="none" strike="noStrike" cap="none">
                <a:solidFill>
                  <a:srgbClr val="FF0000"/>
                </a:solidFill>
                <a:latin typeface="Arial"/>
                <a:ea typeface="Arial"/>
                <a:cs typeface="Arial"/>
                <a:sym typeface="Arial"/>
              </a:rPr>
              <a:t>#.copy() avoids changing the original DataFrame</a:t>
            </a:r>
            <a:endParaRPr sz="14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df_selected['Salary'] = df_selected['Salary'].fillna(df_selected['Salary'].mean())</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discretizer = KBinsDiscretizer(n_bins=3, encode='ordinal', strategy='uniform')</a:t>
            </a:r>
            <a:r>
              <a:rPr lang="en-IN" sz="1400" b="0" i="0" u="none" strike="noStrike" cap="none">
                <a:solidFill>
                  <a:srgbClr val="FF0000"/>
                </a:solidFill>
                <a:latin typeface="Arial"/>
                <a:ea typeface="Arial"/>
                <a:cs typeface="Arial"/>
                <a:sym typeface="Arial"/>
              </a:rPr>
              <a:t> #Divides Age into 3 equal ranges (bins)</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df_selected['Age_Bin'] = discretizer.fit_transform(df_selected[['Age']]) </a:t>
            </a:r>
            <a:r>
              <a:rPr lang="en-IN" sz="1400" b="0" i="0" u="none" strike="noStrike" cap="none">
                <a:solidFill>
                  <a:srgbClr val="FF0000"/>
                </a:solidFill>
                <a:latin typeface="Arial"/>
                <a:ea typeface="Arial"/>
                <a:cs typeface="Arial"/>
                <a:sym typeface="Arial"/>
              </a:rPr>
              <a:t>#Converts ages into numbers:0 → young, 1 → middle- aged, 2 → older .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Q1 = df_selected['Salary'].quantile(0.25)</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Q3 = df_selected['Salary'].quantile(0.75)</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IQR = Q3 - Q1</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lower_bound = Q1 - 1.5 * IQR</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upper_bound = Q3 + 1.5 * IQR</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df_no_outliers = df_selected[ </a:t>
            </a:r>
            <a:r>
              <a:rPr lang="en-IN" sz="1400" b="0" i="0" u="none" strike="noStrike" cap="none">
                <a:solidFill>
                  <a:srgbClr val="FF0000"/>
                </a:solidFill>
                <a:latin typeface="Arial"/>
                <a:ea typeface="Arial"/>
                <a:cs typeface="Arial"/>
                <a:sym typeface="Arial"/>
              </a:rPr>
              <a:t># Removing Outliers</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(df_selected['Salary'] &gt;= lower_bound) &amp;</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(df_selected['Salary'] &lt;= upper_bound)</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print("\nAfter Eliminating Outliers:\n", df_no_outliers)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3"/>
          <p:cNvSpPr txBox="1"/>
          <p:nvPr/>
        </p:nvSpPr>
        <p:spPr>
          <a:xfrm>
            <a:off x="194310" y="206806"/>
            <a:ext cx="11464290" cy="392993"/>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800"/>
              <a:buFont typeface="Arial"/>
              <a:buNone/>
            </a:pPr>
            <a:r>
              <a:rPr lang="en-IN" sz="1800" b="1" i="0" u="none" strike="noStrike" cap="none">
                <a:solidFill>
                  <a:srgbClr val="000000"/>
                </a:solidFill>
                <a:latin typeface="Times New Roman"/>
                <a:ea typeface="Times New Roman"/>
                <a:cs typeface="Times New Roman"/>
                <a:sym typeface="Times New Roman"/>
              </a:rPr>
              <a:t>EXP 3:</a:t>
            </a:r>
            <a:r>
              <a:rPr lang="en-IN" sz="1800" b="0" i="0" u="none" strike="noStrike" cap="none">
                <a:solidFill>
                  <a:srgbClr val="000000"/>
                </a:solidFill>
                <a:latin typeface="Times New Roman"/>
                <a:ea typeface="Times New Roman"/>
                <a:cs typeface="Times New Roman"/>
                <a:sym typeface="Times New Roman"/>
              </a:rPr>
              <a:t> To apply the K-Nearest Neighbors (KNN) algorithm for both classification and regression tasks using Python.</a:t>
            </a:r>
            <a:endParaRPr sz="1800" b="0" i="0" u="none" strike="noStrike" cap="none">
              <a:solidFill>
                <a:srgbClr val="000000"/>
              </a:solidFill>
              <a:latin typeface="Arial"/>
              <a:ea typeface="Arial"/>
              <a:cs typeface="Arial"/>
              <a:sym typeface="Arial"/>
            </a:endParaRPr>
          </a:p>
        </p:txBody>
      </p:sp>
      <p:sp>
        <p:nvSpPr>
          <p:cNvPr id="427" name="Google Shape;427;p33"/>
          <p:cNvSpPr txBox="1"/>
          <p:nvPr/>
        </p:nvSpPr>
        <p:spPr>
          <a:xfrm>
            <a:off x="339090" y="692329"/>
            <a:ext cx="11658600" cy="572464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import numpy as np						# </a:t>
            </a:r>
            <a:r>
              <a:rPr lang="en-IN" sz="1600" b="0" i="0" u="none" strike="noStrike" cap="none">
                <a:solidFill>
                  <a:srgbClr val="FF0000"/>
                </a:solidFill>
                <a:latin typeface="Arial"/>
                <a:ea typeface="Arial"/>
                <a:cs typeface="Arial"/>
                <a:sym typeface="Arial"/>
              </a:rPr>
              <a:t>For numerical operations</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import matplotlib.pyplot as plt					# </a:t>
            </a:r>
            <a:r>
              <a:rPr lang="en-IN" sz="1600" b="0" i="0" u="none" strike="noStrike" cap="none">
                <a:solidFill>
                  <a:srgbClr val="FF0000"/>
                </a:solidFill>
                <a:latin typeface="Arial"/>
                <a:ea typeface="Arial"/>
                <a:cs typeface="Arial"/>
                <a:sym typeface="Arial"/>
              </a:rPr>
              <a:t>For creating the scatter plot graph.</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from sklearn.datasets import make_regression       # </a:t>
            </a:r>
            <a:r>
              <a:rPr lang="en-IN" sz="1600" b="0" i="0" u="none" strike="noStrike" cap="none">
                <a:solidFill>
                  <a:srgbClr val="FF0000"/>
                </a:solidFill>
                <a:latin typeface="Arial"/>
                <a:ea typeface="Arial"/>
                <a:cs typeface="Arial"/>
                <a:sym typeface="Arial"/>
              </a:rPr>
              <a:t>for generating data, splitting it, creating the model, and calculating error metrics.</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from sklearn.model_selection import train_test_split</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from sklearn.neighbors import KNeighborsRegressor</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from sklearn.metrics import mean_squared_error, r2_score</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 X, y = make_regression(n_samples=200, n_features=1, noise=0.1, random_state=42)	# </a:t>
            </a:r>
            <a:r>
              <a:rPr lang="en-IN" sz="1600" b="0" i="0" u="none" strike="noStrike" cap="none">
                <a:solidFill>
                  <a:srgbClr val="FF0000"/>
                </a:solidFill>
                <a:latin typeface="Times New Roman"/>
                <a:ea typeface="Times New Roman"/>
                <a:cs typeface="Times New Roman"/>
                <a:sym typeface="Times New Roman"/>
              </a:rPr>
              <a:t>Generate synthetic dataset</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 X_train, X_test, y_train, y_test = train_test_split(X, y, test_size=0.2, random_state=42)	# </a:t>
            </a:r>
            <a:r>
              <a:rPr lang="en-IN" sz="1600" b="0" i="0" u="none" strike="noStrike" cap="none">
                <a:solidFill>
                  <a:srgbClr val="FF0000"/>
                </a:solidFill>
                <a:latin typeface="Times New Roman"/>
                <a:ea typeface="Times New Roman"/>
                <a:cs typeface="Times New Roman"/>
                <a:sym typeface="Times New Roman"/>
              </a:rPr>
              <a:t>Split the dataset into training and testing sets</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 knn_regressor = KNeighborsRegressor(n_neighbors=5)			# </a:t>
            </a:r>
            <a:r>
              <a:rPr lang="en-IN" sz="1600" b="0" i="0" u="none" strike="noStrike" cap="none">
                <a:solidFill>
                  <a:srgbClr val="FF0000"/>
                </a:solidFill>
                <a:latin typeface="Times New Roman"/>
                <a:ea typeface="Times New Roman"/>
                <a:cs typeface="Times New Roman"/>
                <a:sym typeface="Times New Roman"/>
              </a:rPr>
              <a:t>Create and train the KNN regressor</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knn_regressor.fit(X_train, y_train)</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 y_pred = knn_regressor.predict(X_test)					# </a:t>
            </a:r>
            <a:r>
              <a:rPr lang="en-IN" sz="1600" b="0" i="0" u="none" strike="noStrike" cap="none">
                <a:solidFill>
                  <a:srgbClr val="FF0000"/>
                </a:solidFill>
                <a:latin typeface="Times New Roman"/>
                <a:ea typeface="Times New Roman"/>
                <a:cs typeface="Times New Roman"/>
                <a:sym typeface="Times New Roman"/>
              </a:rPr>
              <a:t>Make predictions on the test data</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 mse = mean_squared_error(y_test, y_pred)					# </a:t>
            </a:r>
            <a:r>
              <a:rPr lang="en-IN" sz="1600" b="0" i="0" u="none" strike="noStrike" cap="none">
                <a:solidFill>
                  <a:srgbClr val="FF0000"/>
                </a:solidFill>
                <a:latin typeface="Times New Roman"/>
                <a:ea typeface="Times New Roman"/>
                <a:cs typeface="Times New Roman"/>
                <a:sym typeface="Times New Roman"/>
              </a:rPr>
              <a:t>Evaluate the model</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r2 = r2_score(y_test, y_pred)</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print(f'Mean Squared Error: {mse}')</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print(f'R-squared: {r2}')</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IN" sz="1600" b="0" i="0" u="none" strike="noStrike" cap="none">
                <a:solidFill>
                  <a:srgbClr val="000000"/>
                </a:solidFill>
                <a:latin typeface="Times New Roman"/>
                <a:ea typeface="Times New Roman"/>
                <a:cs typeface="Times New Roman"/>
                <a:sym typeface="Times New Roman"/>
              </a:rPr>
              <a:t>plt.scatter(X_test, y_test, color='blue', label='Actual')				# </a:t>
            </a:r>
            <a:r>
              <a:rPr lang="en-IN" sz="1600" b="0" i="0" u="none" strike="noStrike" cap="none">
                <a:solidFill>
                  <a:srgbClr val="FF0000"/>
                </a:solidFill>
                <a:latin typeface="Times New Roman"/>
                <a:ea typeface="Times New Roman"/>
                <a:cs typeface="Times New Roman"/>
                <a:sym typeface="Times New Roman"/>
              </a:rPr>
              <a:t>Visualize the results</a:t>
            </a:r>
            <a:endParaRPr sz="16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plt.scatter(X_test, y_pred, color='red', label='Predicted')</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plt.title('KNN Regression')</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plt.xlabel('Feature')</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plt.ylabel('Target')</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plt.legend()</a:t>
            </a:r>
            <a:endParaRPr sz="16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r>
              <a:rPr lang="en-IN" sz="1600" b="0" i="0" u="none" strike="noStrike" cap="none">
                <a:solidFill>
                  <a:srgbClr val="000000"/>
                </a:solidFill>
                <a:latin typeface="Times New Roman"/>
                <a:ea typeface="Times New Roman"/>
                <a:cs typeface="Times New Roman"/>
                <a:sym typeface="Times New Roman"/>
              </a:rPr>
              <a:t>plt.show()</a:t>
            </a:r>
            <a:endParaRPr sz="2400" b="0" i="0" u="none" strike="noStrike" cap="none">
              <a:solidFill>
                <a:srgbClr val="000000"/>
              </a:solidFill>
              <a:latin typeface="Arial"/>
              <a:ea typeface="Arial"/>
              <a:cs typeface="Arial"/>
              <a:sym typeface="Arial"/>
            </a:endParaRPr>
          </a:p>
        </p:txBody>
      </p:sp>
      <p:pic>
        <p:nvPicPr>
          <p:cNvPr id="428" name="Google Shape;428;p33" descr="A screen shot of a graph&#10;&#10;AI-generated content may be incorrect."/>
          <p:cNvPicPr preferRelativeResize="0"/>
          <p:nvPr/>
        </p:nvPicPr>
        <p:blipFill rotWithShape="1">
          <a:blip r:embed="rId3">
            <a:alphaModFix/>
          </a:blip>
          <a:srcRect/>
          <a:stretch/>
        </p:blipFill>
        <p:spPr>
          <a:xfrm>
            <a:off x="8639048" y="4607746"/>
            <a:ext cx="3213862" cy="2250254"/>
          </a:xfrm>
          <a:prstGeom prst="rect">
            <a:avLst/>
          </a:prstGeom>
          <a:noFill/>
          <a:ln>
            <a:noFill/>
          </a:ln>
        </p:spPr>
      </p:pic>
      <p:sp>
        <p:nvSpPr>
          <p:cNvPr id="429" name="Google Shape;429;p33"/>
          <p:cNvSpPr txBox="1"/>
          <p:nvPr/>
        </p:nvSpPr>
        <p:spPr>
          <a:xfrm>
            <a:off x="5177790" y="5974662"/>
            <a:ext cx="6094476" cy="676532"/>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Mean Squared Error: 133.62045142000457</a:t>
            </a:r>
            <a:endParaRPr sz="1400" b="0" i="0" u="none" strike="noStrike" cap="none">
              <a:solidFill>
                <a:srgbClr val="000000"/>
              </a:solidFill>
              <a:latin typeface="Arial"/>
              <a:ea typeface="Arial"/>
              <a:cs typeface="Arial"/>
              <a:sym typeface="Arial"/>
            </a:endParaRPr>
          </a:p>
          <a:p>
            <a:pPr marL="0" marR="0" lvl="0" indent="0" algn="just" rtl="0">
              <a:lnSpc>
                <a:spcPct val="115000"/>
              </a:lnSpc>
              <a:spcBef>
                <a:spcPts val="80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R-squared: 0.9817384115764595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4"/>
          <p:cNvSpPr/>
          <p:nvPr/>
        </p:nvSpPr>
        <p:spPr>
          <a:xfrm>
            <a:off x="158620" y="-92885"/>
            <a:ext cx="11336694" cy="95718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import numpy as np</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import matplotlib.pyplot as plt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from sklearn.datasets import load_iris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from sklearn.model_selection import train_test_split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from sklearn.neighbors import KNeighborsClassifier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from sklearn.metrics import accuracy_score, classification_report, confusion_matrix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Step 1: Load the dataset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iris = load_iris()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X = iris.data          # Features</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y = iris.target        # Labels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Step 2: Split the dataset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X_train, X_test, y_train, y_test = train_test_split(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X, y, test_size=0.2, random_state=42</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Step 3: Create and train the KNN classifier</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knn_classifier = KNeighborsClassifier(n_neighbors=5)</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knn_classifier.fit(X_train, y_train)</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Step 4: Make predictions</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y_pred = knn_classifier.predict(X_test)</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Step 5: Evaluate the model</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accuracy = accuracy_score(y_test, y_pred)</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print(f'Accuracy: {accuracy:.4f}')</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print('\nClassification Report:')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print(classification_report(y_test, y_pred, target_names=iris.target_names))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print('\nConfusion Matrix:')</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print(confusion_matrix(y_test, y_pred))</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 Step 6: Predict a new input sample</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input_sample = np.array([[5.1, 3.5, 1.4, 0.2]])</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predicted_class = knn_classifier.predict(input_sample)</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predicted_prob = knn_classifier.predict_proba(input_sample)</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print("\nInput Sample:", input_sample)</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print("Predicted Flower Name:", iris.target_names[predicted_class[0]])</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Arial"/>
                <a:ea typeface="Arial"/>
                <a:cs typeface="Arial"/>
                <a:sym typeface="Arial"/>
              </a:rPr>
              <a:t>print("Prediction Probabilities:", predicted_prob)</a:t>
            </a:r>
            <a:endParaRPr/>
          </a:p>
        </p:txBody>
      </p:sp>
      <p:pic>
        <p:nvPicPr>
          <p:cNvPr id="435" name="Google Shape;435;p34"/>
          <p:cNvPicPr preferRelativeResize="0"/>
          <p:nvPr/>
        </p:nvPicPr>
        <p:blipFill rotWithShape="1">
          <a:blip r:embed="rId3">
            <a:alphaModFix/>
          </a:blip>
          <a:srcRect/>
          <a:stretch/>
        </p:blipFill>
        <p:spPr>
          <a:xfrm>
            <a:off x="7853866" y="735748"/>
            <a:ext cx="4086225" cy="2185872"/>
          </a:xfrm>
          <a:prstGeom prst="rect">
            <a:avLst/>
          </a:prstGeom>
          <a:noFill/>
          <a:ln>
            <a:noFill/>
          </a:ln>
        </p:spPr>
      </p:pic>
      <p:pic>
        <p:nvPicPr>
          <p:cNvPr id="436" name="Google Shape;436;p34"/>
          <p:cNvPicPr preferRelativeResize="0"/>
          <p:nvPr/>
        </p:nvPicPr>
        <p:blipFill rotWithShape="1">
          <a:blip r:embed="rId4">
            <a:alphaModFix/>
          </a:blip>
          <a:srcRect/>
          <a:stretch/>
        </p:blipFill>
        <p:spPr>
          <a:xfrm>
            <a:off x="6423722" y="2929170"/>
            <a:ext cx="5229225" cy="2047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35"/>
          <p:cNvSpPr txBox="1"/>
          <p:nvPr/>
        </p:nvSpPr>
        <p:spPr>
          <a:xfrm>
            <a:off x="157734" y="243382"/>
            <a:ext cx="11958066" cy="392993"/>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800"/>
              <a:buFont typeface="Arial"/>
              <a:buNone/>
            </a:pPr>
            <a:r>
              <a:rPr lang="en-IN" sz="1800" b="1" i="0" u="none" strike="noStrike" cap="none">
                <a:solidFill>
                  <a:srgbClr val="000000"/>
                </a:solidFill>
                <a:latin typeface="Times New Roman"/>
                <a:ea typeface="Times New Roman"/>
                <a:cs typeface="Times New Roman"/>
                <a:sym typeface="Times New Roman"/>
              </a:rPr>
              <a:t>Exp 4:</a:t>
            </a:r>
            <a:r>
              <a:rPr lang="en-IN" sz="1800" b="0" i="0" u="none" strike="noStrike" cap="none">
                <a:solidFill>
                  <a:srgbClr val="000000"/>
                </a:solidFill>
                <a:latin typeface="Times New Roman"/>
                <a:ea typeface="Times New Roman"/>
                <a:cs typeface="Times New Roman"/>
                <a:sym typeface="Times New Roman"/>
              </a:rPr>
              <a:t> Demonstrate decision tree algorithm for a classification problem and perform parameter tuning for better results</a:t>
            </a:r>
            <a:endParaRPr sz="1800" b="0" i="0" u="none" strike="noStrike" cap="none">
              <a:solidFill>
                <a:srgbClr val="000000"/>
              </a:solidFill>
              <a:latin typeface="Arial"/>
              <a:ea typeface="Arial"/>
              <a:cs typeface="Arial"/>
              <a:sym typeface="Arial"/>
            </a:endParaRPr>
          </a:p>
        </p:txBody>
      </p:sp>
      <p:sp>
        <p:nvSpPr>
          <p:cNvPr id="442" name="Google Shape;442;p35"/>
          <p:cNvSpPr txBox="1"/>
          <p:nvPr/>
        </p:nvSpPr>
        <p:spPr>
          <a:xfrm>
            <a:off x="76200" y="766863"/>
            <a:ext cx="12039600" cy="590931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import pandas as pd</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from sklearn.datasets import load_iris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from sklearn.model_selection import train_test_split, GridSearchCV</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from sklearn.tree import DecisionTreeClassifier</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from sklearn.metrics import accuracy_score, confusion_matrix, classification_report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data = load_iris()							# </a:t>
            </a:r>
            <a:r>
              <a:rPr lang="en-IN" sz="1400" b="0" i="0" u="none" strike="noStrike" cap="none">
                <a:solidFill>
                  <a:srgbClr val="FF0000"/>
                </a:solidFill>
                <a:latin typeface="Times New Roman"/>
                <a:ea typeface="Times New Roman"/>
                <a:cs typeface="Times New Roman"/>
                <a:sym typeface="Times New Roman"/>
              </a:rPr>
              <a:t>Load dataset</a:t>
            </a:r>
            <a:endParaRPr sz="14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X = pd.DataFrame(data.data, columns=data.feature_names)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y = pd.Series(data.target)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X_train, X_test, y_train, y_test = train_test_split(X, y, test_size=0.3, random_state=42)		# </a:t>
            </a:r>
            <a:r>
              <a:rPr lang="en-IN" sz="1400" b="0" i="0" u="none" strike="noStrike" cap="none">
                <a:solidFill>
                  <a:srgbClr val="FF0000"/>
                </a:solidFill>
                <a:latin typeface="Times New Roman"/>
                <a:ea typeface="Times New Roman"/>
                <a:cs typeface="Times New Roman"/>
                <a:sym typeface="Times New Roman"/>
              </a:rPr>
              <a:t>Split data </a:t>
            </a:r>
            <a:endParaRPr sz="14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clf = DecisionTreeClassifier()						# </a:t>
            </a:r>
            <a:r>
              <a:rPr lang="en-IN" sz="1400" b="0" i="0" u="none" strike="noStrike" cap="none">
                <a:solidFill>
                  <a:srgbClr val="FF0000"/>
                </a:solidFill>
                <a:latin typeface="Times New Roman"/>
                <a:ea typeface="Times New Roman"/>
                <a:cs typeface="Times New Roman"/>
                <a:sym typeface="Times New Roman"/>
              </a:rPr>
              <a:t>Default Decision Tree</a:t>
            </a:r>
            <a:endParaRPr sz="14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clf.fit(X_train, y_train)</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y_pred = clf.predict(X_test)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print("Default Accuracy:", accuracy_score(y_test, y_pred))</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params = {							 	# </a:t>
            </a:r>
            <a:r>
              <a:rPr lang="en-IN" sz="1400" b="0" i="0" u="none" strike="noStrike" cap="none">
                <a:solidFill>
                  <a:srgbClr val="FF0000"/>
                </a:solidFill>
                <a:latin typeface="Times New Roman"/>
                <a:ea typeface="Times New Roman"/>
                <a:cs typeface="Times New Roman"/>
                <a:sym typeface="Times New Roman"/>
              </a:rPr>
              <a:t>Parameter Tuning using Grid Search</a:t>
            </a:r>
            <a:endParaRPr sz="14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    'criterion': ['gini', 'entropy'],</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    'max_depth': [2, 3, 4, 5, None],</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    'min_samples_split': [2, 3, 4],</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    'min_samples_leaf': [1, 2, 3]</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grid = GridSearchCV(DecisionTreeClassifier(), params,cv=5, scoring='accuracy')</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grid.fit(X_train, y_train)</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best_model = grid.best_estimator_					 	# </a:t>
            </a:r>
            <a:r>
              <a:rPr lang="en-IN" sz="1400" b="0" i="0" u="none" strike="noStrike" cap="none">
                <a:solidFill>
                  <a:srgbClr val="FF0000"/>
                </a:solidFill>
                <a:latin typeface="Times New Roman"/>
                <a:ea typeface="Times New Roman"/>
                <a:cs typeface="Times New Roman"/>
                <a:sym typeface="Times New Roman"/>
              </a:rPr>
              <a:t>Best Model</a:t>
            </a:r>
            <a:endParaRPr sz="1400" b="0" i="0" u="none" strike="noStrike" cap="none">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y_best = best_model.predict(X_test)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print("Best Params:", grid.best_params_)</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print("Tuned Accuracy:", accuracy_score(y_test, y_best))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print("\nConfusion Matrix:\n", confusion_matrix(y_test, y_best))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r>
              <a:rPr lang="en-IN" sz="1400" b="0" i="0" u="none" strike="noStrike" cap="none">
                <a:solidFill>
                  <a:srgbClr val="000000"/>
                </a:solidFill>
                <a:latin typeface="Times New Roman"/>
                <a:ea typeface="Times New Roman"/>
                <a:cs typeface="Times New Roman"/>
                <a:sym typeface="Times New Roman"/>
              </a:rPr>
              <a:t>print("\nClassification Report:\n", classification_report(y_test, y_best))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6"/>
          <p:cNvSpPr/>
          <p:nvPr/>
        </p:nvSpPr>
        <p:spPr>
          <a:xfrm>
            <a:off x="295470" y="960377"/>
            <a:ext cx="6096000" cy="54784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load_diabetes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dataset=load_diabetes()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(dataset[</a:t>
            </a:r>
            <a:r>
              <a:rPr lang="en-IN" sz="1400" b="0" i="0" u="none" strike="noStrike" cap="none">
                <a:solidFill>
                  <a:srgbClr val="A31515"/>
                </a:solidFill>
                <a:latin typeface="Courier New"/>
                <a:ea typeface="Courier New"/>
                <a:cs typeface="Courier New"/>
                <a:sym typeface="Courier New"/>
              </a:rPr>
              <a:t>'DESCR'</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pandas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pd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df_diabetes=pd.DataFrame(dataset[</a:t>
            </a:r>
            <a:r>
              <a:rPr lang="en-IN" sz="1400" b="0" i="0" u="none" strike="noStrike" cap="none">
                <a:solidFill>
                  <a:srgbClr val="A31515"/>
                </a:solidFill>
                <a:latin typeface="Courier New"/>
                <a:ea typeface="Courier New"/>
                <a:cs typeface="Courier New"/>
                <a:sym typeface="Courier New"/>
              </a:rPr>
              <a:t>'data'</a:t>
            </a:r>
            <a:r>
              <a:rPr lang="en-IN" sz="1400" b="0" i="0" u="none" strike="noStrike" cap="none">
                <a:solidFill>
                  <a:srgbClr val="000000"/>
                </a:solidFill>
                <a:latin typeface="Courier New"/>
                <a:ea typeface="Courier New"/>
                <a:cs typeface="Courier New"/>
                <a:sym typeface="Courier New"/>
              </a:rPr>
              <a:t>],columns=dataset[</a:t>
            </a:r>
            <a:r>
              <a:rPr lang="en-IN" sz="1400" b="0" i="0" u="none" strike="noStrike" cap="none">
                <a:solidFill>
                  <a:srgbClr val="A31515"/>
                </a:solidFill>
                <a:latin typeface="Courier New"/>
                <a:ea typeface="Courier New"/>
                <a:cs typeface="Courier New"/>
                <a:sym typeface="Courier New"/>
              </a:rPr>
              <a:t>'feature_names'</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x=df_diabetes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y=dataset[</a:t>
            </a:r>
            <a:r>
              <a:rPr lang="en-IN" sz="1400" b="0" i="0" u="none" strike="noStrike" cap="none">
                <a:solidFill>
                  <a:srgbClr val="A31515"/>
                </a:solidFill>
                <a:latin typeface="Courier New"/>
                <a:ea typeface="Courier New"/>
                <a:cs typeface="Courier New"/>
                <a:sym typeface="Courier New"/>
              </a:rPr>
              <a:t>'target'</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sklearn.model_selection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train_test_split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x_train,x_test,y_train,y_test=train_test_split(x,y,test_size=</a:t>
            </a:r>
            <a:r>
              <a:rPr lang="en-IN" sz="1400" b="0" i="0" u="none" strike="noStrike" cap="none">
                <a:solidFill>
                  <a:srgbClr val="116644"/>
                </a:solidFill>
                <a:latin typeface="Courier New"/>
                <a:ea typeface="Courier New"/>
                <a:cs typeface="Courier New"/>
                <a:sym typeface="Courier New"/>
              </a:rPr>
              <a:t>0.2</a:t>
            </a:r>
            <a:r>
              <a:rPr lang="en-IN" sz="1400" b="0" i="0" u="none" strike="noStrike" cap="none">
                <a:solidFill>
                  <a:srgbClr val="000000"/>
                </a:solidFill>
                <a:latin typeface="Courier New"/>
                <a:ea typeface="Courier New"/>
                <a:cs typeface="Courier New"/>
                <a:sym typeface="Courier New"/>
              </a:rPr>
              <a:t>,random_state=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sklearn.tree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DecisionTreeRegressor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regressor=DecisionTreeRegressor(max_depth=</a:t>
            </a:r>
            <a:r>
              <a:rPr lang="en-IN" sz="1400" b="0" i="0" u="none" strike="noStrike" cap="none">
                <a:solidFill>
                  <a:srgbClr val="116644"/>
                </a:solidFill>
                <a:latin typeface="Courier New"/>
                <a:ea typeface="Courier New"/>
                <a:cs typeface="Courier New"/>
                <a:sym typeface="Courier New"/>
              </a:rPr>
              <a:t>3</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regressor.fit(x_train,y_train)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y_pred=regressor.predict(x_test)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sklearn.metrics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r2_score,mean_squared_error,mean_absolute_error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(r2_score(y_test,y_pred))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(mean_squared_error(y_test,y_pred))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(mean_absolute_error(y_test,y_pred))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matplotlib.pyplot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plt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tree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plt.figure(figsize=(</a:t>
            </a:r>
            <a:r>
              <a:rPr lang="en-IN" sz="1400" b="0" i="0" u="none" strike="noStrike" cap="none">
                <a:solidFill>
                  <a:srgbClr val="116644"/>
                </a:solidFill>
                <a:latin typeface="Courier New"/>
                <a:ea typeface="Courier New"/>
                <a:cs typeface="Courier New"/>
                <a:sym typeface="Courier New"/>
              </a:rPr>
              <a:t>15</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tree.plot_tree(regressor,fontsize=</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plt.show()</a:t>
            </a:r>
            <a:endParaRPr/>
          </a:p>
        </p:txBody>
      </p:sp>
      <p:sp>
        <p:nvSpPr>
          <p:cNvPr id="448" name="Google Shape;448;p36"/>
          <p:cNvSpPr txBox="1"/>
          <p:nvPr/>
        </p:nvSpPr>
        <p:spPr>
          <a:xfrm>
            <a:off x="74645" y="195943"/>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5:</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Demonstrate decision tree algorithm for a regression problem</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pic>
        <p:nvPicPr>
          <p:cNvPr id="453" name="Google Shape;453;p37"/>
          <p:cNvPicPr preferRelativeResize="0"/>
          <p:nvPr/>
        </p:nvPicPr>
        <p:blipFill rotWithShape="1">
          <a:blip r:embed="rId3">
            <a:alphaModFix/>
          </a:blip>
          <a:srcRect/>
          <a:stretch/>
        </p:blipFill>
        <p:spPr>
          <a:xfrm>
            <a:off x="1461440" y="342469"/>
            <a:ext cx="9269119" cy="61730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p38"/>
          <p:cNvPicPr preferRelativeResize="0"/>
          <p:nvPr/>
        </p:nvPicPr>
        <p:blipFill rotWithShape="1">
          <a:blip r:embed="rId3">
            <a:alphaModFix/>
          </a:blip>
          <a:srcRect/>
          <a:stretch/>
        </p:blipFill>
        <p:spPr>
          <a:xfrm>
            <a:off x="189675" y="243030"/>
            <a:ext cx="11812649" cy="631595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9"/>
          <p:cNvSpPr/>
          <p:nvPr/>
        </p:nvSpPr>
        <p:spPr>
          <a:xfrm>
            <a:off x="74645" y="211505"/>
            <a:ext cx="12521682" cy="741741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numpy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np</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sklearn.tree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DecisionTreeRegressor, export_text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matplotlib.pyplot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plt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sklearn.tree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plot_tree</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008000"/>
                </a:solidFill>
                <a:latin typeface="Courier New"/>
                <a:ea typeface="Courier New"/>
                <a:cs typeface="Courier New"/>
                <a:sym typeface="Courier New"/>
              </a:rPr>
              <a:t># Dataset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np.array([[</a:t>
            </a:r>
            <a:r>
              <a:rPr lang="en-IN" sz="1400" b="0" i="0" u="none" strike="noStrike" cap="none">
                <a:solidFill>
                  <a:srgbClr val="116644"/>
                </a:solidFill>
                <a:latin typeface="Courier New"/>
                <a:ea typeface="Courier New"/>
                <a:cs typeface="Courier New"/>
                <a:sym typeface="Courier New"/>
              </a:rPr>
              <a:t>1400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1600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1700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30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1875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1100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1550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18</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2350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2450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8</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1425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22</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1700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12</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np.array([</a:t>
            </a:r>
            <a:r>
              <a:rPr lang="en-IN" sz="1400" b="0" i="0" u="none" strike="noStrike" cap="none">
                <a:solidFill>
                  <a:srgbClr val="116644"/>
                </a:solidFill>
                <a:latin typeface="Courier New"/>
                <a:ea typeface="Courier New"/>
                <a:cs typeface="Courier New"/>
                <a:sym typeface="Courier New"/>
              </a:rPr>
              <a:t>105000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120000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95000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145000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80000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115000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180000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190000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108000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130000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Train Decision Tree Regressor (max_depth=3 for interpretability)</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regressor = DecisionTreeRegressor(max_depth=</a:t>
            </a:r>
            <a:r>
              <a:rPr lang="en-IN" sz="1400" b="0" i="0" u="none" strike="noStrike" cap="none">
                <a:solidFill>
                  <a:srgbClr val="116644"/>
                </a:solidFill>
                <a:latin typeface="Courier New"/>
                <a:ea typeface="Courier New"/>
                <a:cs typeface="Courier New"/>
                <a:sym typeface="Courier New"/>
              </a:rPr>
              <a:t>3</a:t>
            </a: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regressor.fit(X, y)</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Text representation of the tree</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tree_text = export_text(regressor, feature_names=[</a:t>
            </a:r>
            <a:r>
              <a:rPr lang="en-IN" sz="1400" b="0" i="0" u="none" strike="noStrike" cap="none">
                <a:solidFill>
                  <a:srgbClr val="A31515"/>
                </a:solidFill>
                <a:latin typeface="Courier New"/>
                <a:ea typeface="Courier New"/>
                <a:cs typeface="Courier New"/>
                <a:sym typeface="Courier New"/>
              </a:rPr>
              <a:t>'Size'</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A31515"/>
                </a:solidFill>
                <a:latin typeface="Courier New"/>
                <a:ea typeface="Courier New"/>
                <a:cs typeface="Courier New"/>
                <a:sym typeface="Courier New"/>
              </a:rPr>
              <a:t>'Age'</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"Tree Structure:\n"</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(tree_text)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Predictions on training data</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 = regressor.predict(X)</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"\nPredictions vs Actual:"</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i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6A5221"/>
                </a:solidFill>
                <a:latin typeface="Courier New"/>
                <a:ea typeface="Courier New"/>
                <a:cs typeface="Courier New"/>
                <a:sym typeface="Courier New"/>
              </a:rPr>
              <a:t>len</a:t>
            </a:r>
            <a:r>
              <a:rPr lang="en-IN" sz="1400" b="0" i="0" u="none" strike="noStrike" cap="none">
                <a:solidFill>
                  <a:srgbClr val="000000"/>
                </a:solidFill>
                <a:latin typeface="Courier New"/>
                <a:ea typeface="Courier New"/>
                <a:cs typeface="Courier New"/>
                <a:sym typeface="Courier New"/>
              </a:rPr>
              <a:t>(y)):</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00FF"/>
                </a:solidFill>
                <a:latin typeface="Courier New"/>
                <a:ea typeface="Courier New"/>
                <a:cs typeface="Courier New"/>
                <a:sym typeface="Courier New"/>
              </a:rPr>
              <a:t>f</a:t>
            </a:r>
            <a:r>
              <a:rPr lang="en-IN" sz="1400" b="0" i="0" u="none" strike="noStrike" cap="none">
                <a:solidFill>
                  <a:srgbClr val="A31515"/>
                </a:solidFill>
                <a:latin typeface="Courier New"/>
                <a:ea typeface="Courier New"/>
                <a:cs typeface="Courier New"/>
                <a:sym typeface="Courier New"/>
              </a:rPr>
              <a:t>"Size: </a:t>
            </a:r>
            <a:r>
              <a:rPr lang="en-IN" sz="1400" b="0" i="0" u="none" strike="noStrike" cap="none">
                <a:solidFill>
                  <a:srgbClr val="000000"/>
                </a:solidFill>
                <a:latin typeface="Courier New"/>
                <a:ea typeface="Courier New"/>
                <a:cs typeface="Courier New"/>
                <a:sym typeface="Courier New"/>
              </a:rPr>
              <a:t>{X[i][</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 Age: </a:t>
            </a:r>
            <a:r>
              <a:rPr lang="en-IN" sz="1400" b="0" i="0" u="none" strike="noStrike" cap="none">
                <a:solidFill>
                  <a:srgbClr val="000000"/>
                </a:solidFill>
                <a:latin typeface="Courier New"/>
                <a:ea typeface="Courier New"/>
                <a:cs typeface="Courier New"/>
                <a:sym typeface="Courier New"/>
              </a:rPr>
              <a:t>{X[i][</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 Actual: </a:t>
            </a:r>
            <a:r>
              <a:rPr lang="en-IN" sz="1400" b="0" i="0" u="none" strike="noStrike" cap="none">
                <a:solidFill>
                  <a:srgbClr val="000000"/>
                </a:solidFill>
                <a:latin typeface="Courier New"/>
                <a:ea typeface="Courier New"/>
                <a:cs typeface="Courier New"/>
                <a:sym typeface="Courier New"/>
              </a:rPr>
              <a:t>{y[i]}</a:t>
            </a:r>
            <a:r>
              <a:rPr lang="en-IN" sz="1400" b="0" i="0" u="none" strike="noStrike" cap="none">
                <a:solidFill>
                  <a:srgbClr val="A31515"/>
                </a:solidFill>
                <a:latin typeface="Courier New"/>
                <a:ea typeface="Courier New"/>
                <a:cs typeface="Courier New"/>
                <a:sym typeface="Courier New"/>
              </a:rPr>
              <a:t>, Predicted: </a:t>
            </a:r>
            <a:r>
              <a:rPr lang="en-IN" sz="1400" b="0" i="0" u="none" strike="noStrike" cap="none">
                <a:solidFill>
                  <a:srgbClr val="000000"/>
                </a:solidFill>
                <a:latin typeface="Courier New"/>
                <a:ea typeface="Courier New"/>
                <a:cs typeface="Courier New"/>
                <a:sym typeface="Courier New"/>
              </a:rPr>
              <a:t>{y_pred[i]</a:t>
            </a:r>
            <a:r>
              <a:rPr lang="en-IN" sz="1400" b="0" i="0" u="none" strike="noStrike" cap="none">
                <a:solidFill>
                  <a:srgbClr val="116644"/>
                </a:solidFill>
                <a:latin typeface="Courier New"/>
                <a:ea typeface="Courier New"/>
                <a:cs typeface="Courier New"/>
                <a:sym typeface="Courier New"/>
              </a:rPr>
              <a:t>:.2f</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Feature importances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"\nFeature Importances:"</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00FF"/>
                </a:solidFill>
                <a:latin typeface="Courier New"/>
                <a:ea typeface="Courier New"/>
                <a:cs typeface="Courier New"/>
                <a:sym typeface="Courier New"/>
              </a:rPr>
              <a:t>f</a:t>
            </a:r>
            <a:r>
              <a:rPr lang="en-IN" sz="1400" b="0" i="0" u="none" strike="noStrike" cap="none">
                <a:solidFill>
                  <a:srgbClr val="A31515"/>
                </a:solidFill>
                <a:latin typeface="Courier New"/>
                <a:ea typeface="Courier New"/>
                <a:cs typeface="Courier New"/>
                <a:sym typeface="Courier New"/>
              </a:rPr>
              <a:t>"Size: </a:t>
            </a:r>
            <a:r>
              <a:rPr lang="en-IN" sz="1400" b="0" i="0" u="none" strike="noStrike" cap="none">
                <a:solidFill>
                  <a:srgbClr val="000000"/>
                </a:solidFill>
                <a:latin typeface="Courier New"/>
                <a:ea typeface="Courier New"/>
                <a:cs typeface="Courier New"/>
                <a:sym typeface="Courier New"/>
              </a:rPr>
              <a:t>{regressor.feature_importances_[</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:.4f</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00FF"/>
                </a:solidFill>
                <a:latin typeface="Courier New"/>
                <a:ea typeface="Courier New"/>
                <a:cs typeface="Courier New"/>
                <a:sym typeface="Courier New"/>
              </a:rPr>
              <a:t>f</a:t>
            </a:r>
            <a:r>
              <a:rPr lang="en-IN" sz="1400" b="0" i="0" u="none" strike="noStrike" cap="none">
                <a:solidFill>
                  <a:srgbClr val="A31515"/>
                </a:solidFill>
                <a:latin typeface="Courier New"/>
                <a:ea typeface="Courier New"/>
                <a:cs typeface="Courier New"/>
                <a:sym typeface="Courier New"/>
              </a:rPr>
              <a:t>"Age: </a:t>
            </a:r>
            <a:r>
              <a:rPr lang="en-IN" sz="1400" b="0" i="0" u="none" strike="noStrike" cap="none">
                <a:solidFill>
                  <a:srgbClr val="000000"/>
                </a:solidFill>
                <a:latin typeface="Courier New"/>
                <a:ea typeface="Courier New"/>
                <a:cs typeface="Courier New"/>
                <a:sym typeface="Courier New"/>
              </a:rPr>
              <a:t>{regressor.feature_importances_[</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:.4f</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Visualize the tree (requires matplotlib)</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plt.figure(figsize=(</a:t>
            </a:r>
            <a:r>
              <a:rPr lang="en-IN" sz="1400" b="0" i="0" u="none" strike="noStrike" cap="none">
                <a:solidFill>
                  <a:srgbClr val="116644"/>
                </a:solidFill>
                <a:latin typeface="Courier New"/>
                <a:ea typeface="Courier New"/>
                <a:cs typeface="Courier New"/>
                <a:sym typeface="Courier New"/>
              </a:rPr>
              <a:t>20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plot_tree(regressor, feature_names=[</a:t>
            </a:r>
            <a:r>
              <a:rPr lang="en-IN" sz="1400" b="0" i="0" u="none" strike="noStrike" cap="none">
                <a:solidFill>
                  <a:srgbClr val="A31515"/>
                </a:solidFill>
                <a:latin typeface="Courier New"/>
                <a:ea typeface="Courier New"/>
                <a:cs typeface="Courier New"/>
                <a:sym typeface="Courier New"/>
              </a:rPr>
              <a:t>'Size'</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A31515"/>
                </a:solidFill>
                <a:latin typeface="Courier New"/>
                <a:ea typeface="Courier New"/>
                <a:cs typeface="Courier New"/>
                <a:sym typeface="Courier New"/>
              </a:rPr>
              <a:t>'Age'</a:t>
            </a:r>
            <a:r>
              <a:rPr lang="en-IN" sz="1400" b="0" i="0" u="none" strike="noStrike" cap="none">
                <a:solidFill>
                  <a:srgbClr val="000000"/>
                </a:solidFill>
                <a:latin typeface="Courier New"/>
                <a:ea typeface="Courier New"/>
                <a:cs typeface="Courier New"/>
                <a:sym typeface="Courier New"/>
              </a:rPr>
              <a:t>], filled=</a:t>
            </a:r>
            <a:r>
              <a:rPr lang="en-IN" sz="1400" b="0" i="0" u="none" strike="noStrike" cap="none">
                <a:solidFill>
                  <a:srgbClr val="0000FF"/>
                </a:solidFill>
                <a:latin typeface="Courier New"/>
                <a:ea typeface="Courier New"/>
                <a:cs typeface="Courier New"/>
                <a:sym typeface="Courier New"/>
              </a:rPr>
              <a:t>True</a:t>
            </a:r>
            <a:r>
              <a:rPr lang="en-IN" sz="1400" b="0" i="0" u="none" strike="noStrike" cap="none">
                <a:solidFill>
                  <a:srgbClr val="000000"/>
                </a:solidFill>
                <a:latin typeface="Courier New"/>
                <a:ea typeface="Courier New"/>
                <a:cs typeface="Courier New"/>
                <a:sym typeface="Courier New"/>
              </a:rPr>
              <a:t>, rounded=</a:t>
            </a:r>
            <a:r>
              <a:rPr lang="en-IN" sz="1400" b="0" i="0" u="none" strike="noStrike" cap="none">
                <a:solidFill>
                  <a:srgbClr val="0000FF"/>
                </a:solidFill>
                <a:latin typeface="Courier New"/>
                <a:ea typeface="Courier New"/>
                <a:cs typeface="Courier New"/>
                <a:sym typeface="Courier New"/>
              </a:rPr>
              <a:t>True</a:t>
            </a:r>
            <a:r>
              <a:rPr lang="en-IN" sz="1400" b="0" i="0" u="none" strike="noStrike" cap="none">
                <a:solidFill>
                  <a:srgbClr val="000000"/>
                </a:solidFill>
                <a:latin typeface="Courier New"/>
                <a:ea typeface="Courier New"/>
                <a:cs typeface="Courier New"/>
                <a:sym typeface="Courier New"/>
              </a:rPr>
              <a:t>, precision=</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plt.title(</a:t>
            </a:r>
            <a:r>
              <a:rPr lang="en-IN" sz="1400" b="0" i="0" u="none" strike="noStrike" cap="none">
                <a:solidFill>
                  <a:srgbClr val="A31515"/>
                </a:solidFill>
                <a:latin typeface="Courier New"/>
                <a:ea typeface="Courier New"/>
                <a:cs typeface="Courier New"/>
                <a:sym typeface="Courier New"/>
              </a:rPr>
              <a:t>"Decision Tree for House Price Regression"</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plt.show()</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endParaRPr sz="1400" b="0" i="0" u="none" strike="noStrike" cap="none">
              <a:solidFill>
                <a:srgbClr val="000000"/>
              </a:solidFill>
              <a:latin typeface="Courier New"/>
              <a:ea typeface="Courier New"/>
              <a:cs typeface="Courier New"/>
              <a:sym typeface="Courier New"/>
            </a:endParaRPr>
          </a:p>
        </p:txBody>
      </p:sp>
      <p:sp>
        <p:nvSpPr>
          <p:cNvPr id="464" name="Google Shape;464;p39"/>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5:</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Demonstrate decision tree algorithm for a regression problem</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469" name="Google Shape;469;p40"/>
          <p:cNvPicPr preferRelativeResize="0"/>
          <p:nvPr/>
        </p:nvPicPr>
        <p:blipFill rotWithShape="1">
          <a:blip r:embed="rId3">
            <a:alphaModFix/>
          </a:blip>
          <a:srcRect/>
          <a:stretch/>
        </p:blipFill>
        <p:spPr>
          <a:xfrm>
            <a:off x="74645" y="410841"/>
            <a:ext cx="4143953" cy="5971617"/>
          </a:xfrm>
          <a:prstGeom prst="rect">
            <a:avLst/>
          </a:prstGeom>
          <a:noFill/>
          <a:ln>
            <a:noFill/>
          </a:ln>
        </p:spPr>
      </p:pic>
      <p:pic>
        <p:nvPicPr>
          <p:cNvPr id="470" name="Google Shape;470;p40"/>
          <p:cNvPicPr preferRelativeResize="0"/>
          <p:nvPr/>
        </p:nvPicPr>
        <p:blipFill rotWithShape="1">
          <a:blip r:embed="rId4">
            <a:alphaModFix/>
          </a:blip>
          <a:srcRect/>
          <a:stretch/>
        </p:blipFill>
        <p:spPr>
          <a:xfrm>
            <a:off x="4061804" y="317215"/>
            <a:ext cx="5915851" cy="4245454"/>
          </a:xfrm>
          <a:prstGeom prst="rect">
            <a:avLst/>
          </a:prstGeom>
          <a:noFill/>
          <a:ln>
            <a:noFill/>
          </a:ln>
        </p:spPr>
      </p:pic>
      <p:sp>
        <p:nvSpPr>
          <p:cNvPr id="471" name="Google Shape;471;p40"/>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pic>
        <p:nvPicPr>
          <p:cNvPr id="476" name="Google Shape;476;p41"/>
          <p:cNvPicPr preferRelativeResize="0"/>
          <p:nvPr/>
        </p:nvPicPr>
        <p:blipFill rotWithShape="1">
          <a:blip r:embed="rId3">
            <a:alphaModFix/>
          </a:blip>
          <a:srcRect/>
          <a:stretch/>
        </p:blipFill>
        <p:spPr>
          <a:xfrm>
            <a:off x="332570" y="580627"/>
            <a:ext cx="11526859" cy="5696745"/>
          </a:xfrm>
          <a:prstGeom prst="rect">
            <a:avLst/>
          </a:prstGeom>
          <a:noFill/>
          <a:ln>
            <a:noFill/>
          </a:ln>
        </p:spPr>
      </p:pic>
      <p:sp>
        <p:nvSpPr>
          <p:cNvPr id="477" name="Google Shape;477;p41"/>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2"/>
          <p:cNvSpPr/>
          <p:nvPr/>
        </p:nvSpPr>
        <p:spPr>
          <a:xfrm>
            <a:off x="223935" y="540547"/>
            <a:ext cx="11485984" cy="54784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Import required libraries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load_iris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sklearn.model_selection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train_test_split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sklearn.ensemble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RandomForestClassifier</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sklearn.metrics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accuracy_score, classification_report, confusion_matrix</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Load dataset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iris = load_iris()</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iris.data</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iris.target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Split data into training and testing sets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X_train, X_test, y_train, y_test = train_test_split(X, y, test_size=</a:t>
            </a:r>
            <a:r>
              <a:rPr lang="en-IN" sz="1400" b="0" i="0" u="none" strike="noStrike" cap="none">
                <a:solidFill>
                  <a:srgbClr val="116644"/>
                </a:solidFill>
                <a:latin typeface="Courier New"/>
                <a:ea typeface="Courier New"/>
                <a:cs typeface="Courier New"/>
                <a:sym typeface="Courier New"/>
              </a:rPr>
              <a:t>0.2</a:t>
            </a: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Create Random Forest Classifier model</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rf_classifier = RandomForestClassifier(</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n_estimators=</a:t>
            </a:r>
            <a:r>
              <a:rPr lang="en-IN" sz="1400" b="0" i="0" u="none" strike="noStrike" cap="none">
                <a:solidFill>
                  <a:srgbClr val="116644"/>
                </a:solidFill>
                <a:latin typeface="Courier New"/>
                <a:ea typeface="Courier New"/>
                <a:cs typeface="Courier New"/>
                <a:sym typeface="Courier New"/>
              </a:rPr>
              <a:t>100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criterion=</a:t>
            </a:r>
            <a:r>
              <a:rPr lang="en-IN" sz="1400" b="0" i="0" u="none" strike="noStrike" cap="none">
                <a:solidFill>
                  <a:srgbClr val="A31515"/>
                </a:solidFill>
                <a:latin typeface="Courier New"/>
                <a:ea typeface="Courier New"/>
                <a:cs typeface="Courier New"/>
                <a:sym typeface="Courier New"/>
              </a:rPr>
              <a:t>"gini"</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Train the model</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rf_classifier.fit(X_train, y_train)</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Make predictions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 = rf_classifier.predict(X_test)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Evaluate the model</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"Accuracy:"</a:t>
            </a:r>
            <a:r>
              <a:rPr lang="en-IN" sz="1400" b="0" i="0" u="none" strike="noStrike" cap="none">
                <a:solidFill>
                  <a:srgbClr val="000000"/>
                </a:solidFill>
                <a:latin typeface="Courier New"/>
                <a:ea typeface="Courier New"/>
                <a:cs typeface="Courier New"/>
                <a:sym typeface="Courier New"/>
              </a:rPr>
              <a:t>, accuracy_score(y_test, y_pred))</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"\nConfusion Matrix:\n"</a:t>
            </a:r>
            <a:r>
              <a:rPr lang="en-IN" sz="1400" b="0" i="0" u="none" strike="noStrike" cap="none">
                <a:solidFill>
                  <a:srgbClr val="000000"/>
                </a:solidFill>
                <a:latin typeface="Courier New"/>
                <a:ea typeface="Courier New"/>
                <a:cs typeface="Courier New"/>
                <a:sym typeface="Courier New"/>
              </a:rPr>
              <a:t>, confusion_matrix(y_test, y_pred))</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"\nClassification Report:\n"</a:t>
            </a:r>
            <a:r>
              <a:rPr lang="en-IN" sz="1400" b="0" i="0" u="none" strike="noStrike" cap="none">
                <a:solidFill>
                  <a:srgbClr val="000000"/>
                </a:solidFill>
                <a:latin typeface="Courier New"/>
                <a:ea typeface="Courier New"/>
                <a:cs typeface="Courier New"/>
                <a:sym typeface="Courier New"/>
              </a:rPr>
              <a:t>, classification_report(y_test, y_pred))</a:t>
            </a:r>
            <a:endParaRPr/>
          </a:p>
        </p:txBody>
      </p:sp>
      <p:sp>
        <p:nvSpPr>
          <p:cNvPr id="483" name="Google Shape;483;p42"/>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6a:</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 Apply Random Forest algorithm for classification </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43"/>
          <p:cNvPicPr preferRelativeResize="0"/>
          <p:nvPr/>
        </p:nvPicPr>
        <p:blipFill rotWithShape="1">
          <a:blip r:embed="rId3">
            <a:alphaModFix/>
          </a:blip>
          <a:srcRect/>
          <a:stretch/>
        </p:blipFill>
        <p:spPr>
          <a:xfrm>
            <a:off x="1460000" y="974597"/>
            <a:ext cx="6230219" cy="3677163"/>
          </a:xfrm>
          <a:prstGeom prst="rect">
            <a:avLst/>
          </a:prstGeom>
          <a:noFill/>
          <a:ln>
            <a:noFill/>
          </a:ln>
        </p:spPr>
      </p:pic>
      <p:sp>
        <p:nvSpPr>
          <p:cNvPr id="489" name="Google Shape;489;p43"/>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4"/>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6b:</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 Apply Random Forest algorithm for regression </a:t>
            </a:r>
            <a:endParaRPr sz="1800" b="0" i="0" u="none" strike="noStrike" cap="none">
              <a:solidFill>
                <a:srgbClr val="000000"/>
              </a:solidFill>
              <a:latin typeface="Arial"/>
              <a:ea typeface="Arial"/>
              <a:cs typeface="Arial"/>
              <a:sym typeface="Arial"/>
            </a:endParaRPr>
          </a:p>
        </p:txBody>
      </p:sp>
      <p:sp>
        <p:nvSpPr>
          <p:cNvPr id="495" name="Google Shape;495;p44"/>
          <p:cNvSpPr/>
          <p:nvPr/>
        </p:nvSpPr>
        <p:spPr>
          <a:xfrm>
            <a:off x="261257" y="410841"/>
            <a:ext cx="11187404" cy="65556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Import libraries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numpy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np</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matplotlib.pyplot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plt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sklearn.ensemble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RandomForestRegressor</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sklearn.model_selection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train_test_split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sklearn.metrics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mean_squared_error, r2_score</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Generate synthetic regression data</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np.random.seed(</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np.linspace(</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200</a:t>
            </a:r>
            <a:r>
              <a:rPr lang="en-IN" sz="1400" b="0" i="0" u="none" strike="noStrike" cap="none">
                <a:solidFill>
                  <a:srgbClr val="000000"/>
                </a:solidFill>
                <a:latin typeface="Courier New"/>
                <a:ea typeface="Courier New"/>
                <a:cs typeface="Courier New"/>
                <a:sym typeface="Courier New"/>
              </a:rPr>
              <a:t>).reshape(</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a:t>
            </a:r>
            <a:r>
              <a:rPr lang="en-IN" sz="1400" b="0" i="0" u="none" strike="noStrike" cap="none">
                <a:solidFill>
                  <a:srgbClr val="116644"/>
                </a:solidFill>
                <a:latin typeface="Courier New"/>
                <a:ea typeface="Courier New"/>
                <a:cs typeface="Courier New"/>
                <a:sym typeface="Courier New"/>
              </a:rPr>
              <a:t>3</a:t>
            </a:r>
            <a:r>
              <a:rPr lang="en-IN" sz="1400" b="0" i="0" u="none" strike="noStrike" cap="none">
                <a:solidFill>
                  <a:srgbClr val="000000"/>
                </a:solidFill>
                <a:latin typeface="Courier New"/>
                <a:ea typeface="Courier New"/>
                <a:cs typeface="Courier New"/>
                <a:sym typeface="Courier New"/>
              </a:rPr>
              <a:t> * X.squeeze()**</a:t>
            </a:r>
            <a:r>
              <a:rPr lang="en-IN" sz="1400" b="0" i="0" u="none" strike="noStrike" cap="none">
                <a:solidFill>
                  <a:srgbClr val="116644"/>
                </a:solidFill>
                <a:latin typeface="Courier New"/>
                <a:ea typeface="Courier New"/>
                <a:cs typeface="Courier New"/>
                <a:sym typeface="Courier New"/>
              </a:rPr>
              <a:t>2</a:t>
            </a:r>
            <a:r>
              <a:rPr lang="en-IN" sz="1400" b="0" i="0" u="none" strike="noStrike" cap="none">
                <a:solidFill>
                  <a:srgbClr val="000000"/>
                </a:solidFill>
                <a:latin typeface="Courier New"/>
                <a:ea typeface="Courier New"/>
                <a:cs typeface="Courier New"/>
                <a:sym typeface="Courier New"/>
              </a:rPr>
              <a:t> + </a:t>
            </a:r>
            <a:r>
              <a:rPr lang="en-IN" sz="1400" b="0" i="0" u="none" strike="noStrike" cap="none">
                <a:solidFill>
                  <a:srgbClr val="116644"/>
                </a:solidFill>
                <a:latin typeface="Courier New"/>
                <a:ea typeface="Courier New"/>
                <a:cs typeface="Courier New"/>
                <a:sym typeface="Courier New"/>
              </a:rPr>
              <a:t>5</a:t>
            </a:r>
            <a:r>
              <a:rPr lang="en-IN" sz="1400" b="0" i="0" u="none" strike="noStrike" cap="none">
                <a:solidFill>
                  <a:srgbClr val="000000"/>
                </a:solidFill>
                <a:latin typeface="Courier New"/>
                <a:ea typeface="Courier New"/>
                <a:cs typeface="Courier New"/>
                <a:sym typeface="Courier New"/>
              </a:rPr>
              <a:t> * X.squeeze() + </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 np.random.randn(</a:t>
            </a:r>
            <a:r>
              <a:rPr lang="en-IN" sz="1400" b="0" i="0" u="none" strike="noStrike" cap="none">
                <a:solidFill>
                  <a:srgbClr val="116644"/>
                </a:solidFill>
                <a:latin typeface="Courier New"/>
                <a:ea typeface="Courier New"/>
                <a:cs typeface="Courier New"/>
                <a:sym typeface="Courier New"/>
              </a:rPr>
              <a:t>200</a:t>
            </a:r>
            <a:r>
              <a:rPr lang="en-IN" sz="1400" b="0" i="0" u="none" strike="noStrike" cap="none">
                <a:solidFill>
                  <a:srgbClr val="000000"/>
                </a:solidFill>
                <a:latin typeface="Courier New"/>
                <a:ea typeface="Courier New"/>
                <a:cs typeface="Courier New"/>
                <a:sym typeface="Courier New"/>
              </a:rPr>
              <a:t>) * </a:t>
            </a:r>
            <a:r>
              <a:rPr lang="en-IN" sz="1400" b="0" i="0" u="none" strike="noStrike" cap="none">
                <a:solidFill>
                  <a:srgbClr val="116644"/>
                </a:solidFill>
                <a:latin typeface="Courier New"/>
                <a:ea typeface="Courier New"/>
                <a:cs typeface="Courier New"/>
                <a:sym typeface="Courier New"/>
              </a:rPr>
              <a:t>10</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Split the dataset</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X_train, X_test, y_train, y_test = train_test_split(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X, y, test_size=</a:t>
            </a:r>
            <a:r>
              <a:rPr lang="en-IN" sz="1400" b="0" i="0" u="none" strike="noStrike" cap="none">
                <a:solidFill>
                  <a:srgbClr val="116644"/>
                </a:solidFill>
                <a:latin typeface="Courier New"/>
                <a:ea typeface="Courier New"/>
                <a:cs typeface="Courier New"/>
                <a:sym typeface="Courier New"/>
              </a:rPr>
              <a:t>0.2</a:t>
            </a: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Create Random Forest Regressor</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rf_model = RandomForestRegressor(</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n_estimators=</a:t>
            </a:r>
            <a:r>
              <a:rPr lang="en-IN" sz="1400" b="0" i="0" u="none" strike="noStrike" cap="none">
                <a:solidFill>
                  <a:srgbClr val="116644"/>
                </a:solidFill>
                <a:latin typeface="Courier New"/>
                <a:ea typeface="Courier New"/>
                <a:cs typeface="Courier New"/>
                <a:sym typeface="Courier New"/>
              </a:rPr>
              <a:t>200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max_depth=</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min_samples_split=</a:t>
            </a:r>
            <a:r>
              <a:rPr lang="en-IN" sz="1400" b="0" i="0" u="none" strike="noStrike" cap="none">
                <a:solidFill>
                  <a:srgbClr val="116644"/>
                </a:solidFill>
                <a:latin typeface="Courier New"/>
                <a:ea typeface="Courier New"/>
                <a:cs typeface="Courier New"/>
                <a:sym typeface="Courier New"/>
              </a:rPr>
              <a:t>5</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Train the model</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rf_model.fit(X_train, y_train)</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Predict on test data</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 = rf_model.predict(X_test)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Model evaluation</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"Mean Squared Error:"</a:t>
            </a:r>
            <a:r>
              <a:rPr lang="en-IN" sz="1400" b="0" i="0" u="none" strike="noStrike" cap="none">
                <a:solidFill>
                  <a:srgbClr val="000000"/>
                </a:solidFill>
                <a:latin typeface="Courier New"/>
                <a:ea typeface="Courier New"/>
                <a:cs typeface="Courier New"/>
                <a:sym typeface="Courier New"/>
              </a:rPr>
              <a:t>, mean_squared_error(y_test, y_pred))</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"R2 Score:"</a:t>
            </a:r>
            <a:r>
              <a:rPr lang="en-IN" sz="1400" b="0" i="0" u="none" strike="noStrike" cap="none">
                <a:solidFill>
                  <a:srgbClr val="000000"/>
                </a:solidFill>
                <a:latin typeface="Courier New"/>
                <a:ea typeface="Courier New"/>
                <a:cs typeface="Courier New"/>
                <a:sym typeface="Courier New"/>
              </a:rPr>
              <a:t>, r2_score(y_test, y_pred))</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endParaRPr sz="1400" b="0" i="0" u="none" strike="noStrike" cap="none">
              <a:solidFill>
                <a:srgbClr val="000000"/>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45"/>
          <p:cNvSpPr txBox="1"/>
          <p:nvPr/>
        </p:nvSpPr>
        <p:spPr>
          <a:xfrm>
            <a:off x="0" y="2397968"/>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
        <p:nvSpPr>
          <p:cNvPr id="501" name="Google Shape;501;p45"/>
          <p:cNvSpPr/>
          <p:nvPr/>
        </p:nvSpPr>
        <p:spPr>
          <a:xfrm>
            <a:off x="118188" y="75600"/>
            <a:ext cx="6096000"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Sort values for smooth plotting</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sorted_idx = X_test.squeeze().argsort()</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Plot actual vs predicted values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plt.figure()</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plt.scatter(X_test, y_test)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plt.plot(X_test[sorted_idx], y_pred[sorted_idx])</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plt.xlabel(</a:t>
            </a:r>
            <a:r>
              <a:rPr lang="en-IN" sz="1400" b="0" i="0" u="none" strike="noStrike" cap="none">
                <a:solidFill>
                  <a:srgbClr val="A31515"/>
                </a:solidFill>
                <a:latin typeface="Courier New"/>
                <a:ea typeface="Courier New"/>
                <a:cs typeface="Courier New"/>
                <a:sym typeface="Courier New"/>
              </a:rPr>
              <a:t>"Input Feature (X)"</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plt.ylabel(</a:t>
            </a:r>
            <a:r>
              <a:rPr lang="en-IN" sz="1400" b="0" i="0" u="none" strike="noStrike" cap="none">
                <a:solidFill>
                  <a:srgbClr val="A31515"/>
                </a:solidFill>
                <a:latin typeface="Courier New"/>
                <a:ea typeface="Courier New"/>
                <a:cs typeface="Courier New"/>
                <a:sym typeface="Courier New"/>
              </a:rPr>
              <a:t>"Target Value (y)"</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plt.title(</a:t>
            </a:r>
            <a:r>
              <a:rPr lang="en-IN" sz="1400" b="0" i="0" u="none" strike="noStrike" cap="none">
                <a:solidFill>
                  <a:srgbClr val="A31515"/>
                </a:solidFill>
                <a:latin typeface="Courier New"/>
                <a:ea typeface="Courier New"/>
                <a:cs typeface="Courier New"/>
                <a:sym typeface="Courier New"/>
              </a:rPr>
              <a:t>"Random Forest Regression"</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plt.show()</a:t>
            </a:r>
            <a:endParaRPr/>
          </a:p>
        </p:txBody>
      </p:sp>
      <p:pic>
        <p:nvPicPr>
          <p:cNvPr id="502" name="Google Shape;502;p45"/>
          <p:cNvPicPr preferRelativeResize="0"/>
          <p:nvPr/>
        </p:nvPicPr>
        <p:blipFill rotWithShape="1">
          <a:blip r:embed="rId3">
            <a:alphaModFix/>
          </a:blip>
          <a:srcRect/>
          <a:stretch/>
        </p:blipFill>
        <p:spPr>
          <a:xfrm>
            <a:off x="2118758" y="2397968"/>
            <a:ext cx="6437414" cy="398895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46"/>
          <p:cNvSpPr/>
          <p:nvPr/>
        </p:nvSpPr>
        <p:spPr>
          <a:xfrm>
            <a:off x="158619" y="555957"/>
            <a:ext cx="10702213" cy="56938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Import necessary libraries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load_iris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sklearn.model_selection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train_test_split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sklearn.naive_bayes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GaussianNB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sklearn.metrics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accuracy_score, classification_report, confusion_matrix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Load the Iris dataset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data = load_iris()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data.data  </a:t>
            </a:r>
            <a:r>
              <a:rPr lang="en-IN" sz="1400" b="0" i="0" u="none" strike="noStrike" cap="none">
                <a:solidFill>
                  <a:srgbClr val="008000"/>
                </a:solidFill>
                <a:latin typeface="Courier New"/>
                <a:ea typeface="Courier New"/>
                <a:cs typeface="Courier New"/>
                <a:sym typeface="Courier New"/>
              </a:rPr>
              <a:t># Features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data.target  </a:t>
            </a:r>
            <a:r>
              <a:rPr lang="en-IN" sz="1400" b="0" i="0" u="none" strike="noStrike" cap="none">
                <a:solidFill>
                  <a:srgbClr val="008000"/>
                </a:solidFill>
                <a:latin typeface="Courier New"/>
                <a:ea typeface="Courier New"/>
                <a:cs typeface="Courier New"/>
                <a:sym typeface="Courier New"/>
              </a:rPr>
              <a:t># Target labels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Split the data into training and testing sets (70% train, 30% test)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X_train, X_test, y_train, y_test = train_test_split(X, y, test_size=</a:t>
            </a:r>
            <a:r>
              <a:rPr lang="en-IN" sz="1400" b="0" i="0" u="none" strike="noStrike" cap="none">
                <a:solidFill>
                  <a:srgbClr val="116644"/>
                </a:solidFill>
                <a:latin typeface="Courier New"/>
                <a:ea typeface="Courier New"/>
                <a:cs typeface="Courier New"/>
                <a:sym typeface="Courier New"/>
              </a:rPr>
              <a:t>0.3</a:t>
            </a: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Initialize the Gaussian Naïve Bayes classifier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nb_classifier = GaussianNB()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Train the model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nb_classifier.fit(X_train, y_train)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Make predictions on the test set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 = nb_classifier.predict(X_test)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Evaluate the model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accuracy = accuracy_score(y_test, y_pred)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00FF"/>
                </a:solidFill>
                <a:latin typeface="Courier New"/>
                <a:ea typeface="Courier New"/>
                <a:cs typeface="Courier New"/>
                <a:sym typeface="Courier New"/>
              </a:rPr>
              <a:t>f</a:t>
            </a:r>
            <a:r>
              <a:rPr lang="en-IN" sz="1400" b="0" i="0" u="none" strike="noStrike" cap="none">
                <a:solidFill>
                  <a:srgbClr val="A31515"/>
                </a:solidFill>
                <a:latin typeface="Courier New"/>
                <a:ea typeface="Courier New"/>
                <a:cs typeface="Courier New"/>
                <a:sym typeface="Courier New"/>
              </a:rPr>
              <a:t>"Accuracy: </a:t>
            </a:r>
            <a:r>
              <a:rPr lang="en-IN" sz="1400" b="0" i="0" u="none" strike="noStrike" cap="none">
                <a:solidFill>
                  <a:srgbClr val="000000"/>
                </a:solidFill>
                <a:latin typeface="Courier New"/>
                <a:ea typeface="Courier New"/>
                <a:cs typeface="Courier New"/>
                <a:sym typeface="Courier New"/>
              </a:rPr>
              <a:t>{accuracy</a:t>
            </a:r>
            <a:r>
              <a:rPr lang="en-IN" sz="1400" b="0" i="0" u="none" strike="noStrike" cap="none">
                <a:solidFill>
                  <a:srgbClr val="116644"/>
                </a:solidFill>
                <a:latin typeface="Courier New"/>
                <a:ea typeface="Courier New"/>
                <a:cs typeface="Courier New"/>
                <a:sym typeface="Courier New"/>
              </a:rPr>
              <a:t>:.2f</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Classification Report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"\nClassification Report:"</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(classification_report(y_test, y_pred, target_names=data.target_names))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Confusion Matrix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"Confusion Matrix:"</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(confusion_matrix(y_test, y_pred))</a:t>
            </a:r>
            <a:endParaRPr/>
          </a:p>
        </p:txBody>
      </p:sp>
      <p:sp>
        <p:nvSpPr>
          <p:cNvPr id="508" name="Google Shape;508;p46"/>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7:</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 Demonstrate Naïve Bayes Classification algorithm. </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pic>
        <p:nvPicPr>
          <p:cNvPr id="513" name="Google Shape;513;p47"/>
          <p:cNvPicPr preferRelativeResize="0"/>
          <p:nvPr/>
        </p:nvPicPr>
        <p:blipFill rotWithShape="1">
          <a:blip r:embed="rId3">
            <a:alphaModFix/>
          </a:blip>
          <a:srcRect/>
          <a:stretch/>
        </p:blipFill>
        <p:spPr>
          <a:xfrm>
            <a:off x="3119022" y="1633287"/>
            <a:ext cx="5953956" cy="3591426"/>
          </a:xfrm>
          <a:prstGeom prst="rect">
            <a:avLst/>
          </a:prstGeom>
          <a:noFill/>
          <a:ln>
            <a:noFill/>
          </a:ln>
        </p:spPr>
      </p:pic>
      <p:sp>
        <p:nvSpPr>
          <p:cNvPr id="514" name="Google Shape;514;p47"/>
          <p:cNvSpPr txBox="1"/>
          <p:nvPr/>
        </p:nvSpPr>
        <p:spPr>
          <a:xfrm>
            <a:off x="1045029" y="541176"/>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8"/>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8:</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Apply Support Vector algorithm for classification. </a:t>
            </a:r>
            <a:endParaRPr sz="1800" b="0" i="0" u="none" strike="noStrike" cap="none">
              <a:solidFill>
                <a:srgbClr val="000000"/>
              </a:solidFill>
              <a:latin typeface="Arial"/>
              <a:ea typeface="Arial"/>
              <a:cs typeface="Arial"/>
              <a:sym typeface="Arial"/>
            </a:endParaRPr>
          </a:p>
        </p:txBody>
      </p:sp>
      <p:sp>
        <p:nvSpPr>
          <p:cNvPr id="520" name="Google Shape;520;p48"/>
          <p:cNvSpPr/>
          <p:nvPr/>
        </p:nvSpPr>
        <p:spPr>
          <a:xfrm>
            <a:off x="74645" y="517803"/>
            <a:ext cx="8789437" cy="63401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Import necessary libraries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load_iris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sklearn.model_selection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train_test_split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sklearn.svm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SVC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sklearn.metrics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accuracy_score, classification_report, confusion_matrix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Load the Iris dataset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data = load_iris()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data.data  </a:t>
            </a:r>
            <a:r>
              <a:rPr lang="en-IN" sz="1400" b="0" i="0" u="none" strike="noStrike" cap="none">
                <a:solidFill>
                  <a:srgbClr val="008000"/>
                </a:solidFill>
                <a:latin typeface="Courier New"/>
                <a:ea typeface="Courier New"/>
                <a:cs typeface="Courier New"/>
                <a:sym typeface="Courier New"/>
              </a:rPr>
              <a:t># Features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data.target  </a:t>
            </a:r>
            <a:r>
              <a:rPr lang="en-IN" sz="1400" b="0" i="0" u="none" strike="noStrike" cap="none">
                <a:solidFill>
                  <a:srgbClr val="008000"/>
                </a:solidFill>
                <a:latin typeface="Courier New"/>
                <a:ea typeface="Courier New"/>
                <a:cs typeface="Courier New"/>
                <a:sym typeface="Courier New"/>
              </a:rPr>
              <a:t># Target labels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Split the data into training and testing sets (70% train, 30% test)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X_train, X_test, y_train, y_test = train_test_split(X, y, test_size=</a:t>
            </a:r>
            <a:r>
              <a:rPr lang="en-IN" sz="1400" b="0" i="0" u="none" strike="noStrike" cap="none">
                <a:solidFill>
                  <a:srgbClr val="116644"/>
                </a:solidFill>
                <a:latin typeface="Courier New"/>
                <a:ea typeface="Courier New"/>
                <a:cs typeface="Courier New"/>
                <a:sym typeface="Courier New"/>
              </a:rPr>
              <a:t>0.3</a:t>
            </a: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Initialize the SVM classifier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Using 'linear' kernel for simplicity (you can try 'rbf', 'poly', 'sigmoid')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svm_classifier = SVC(kernel=</a:t>
            </a:r>
            <a:r>
              <a:rPr lang="en-IN" sz="1400" b="0" i="0" u="none" strike="noStrike" cap="none">
                <a:solidFill>
                  <a:srgbClr val="A31515"/>
                </a:solidFill>
                <a:latin typeface="Courier New"/>
                <a:ea typeface="Courier New"/>
                <a:cs typeface="Courier New"/>
                <a:sym typeface="Courier New"/>
              </a:rPr>
              <a:t>'linear'</a:t>
            </a: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Train the model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svm_classifier.fit(X_train, y_train)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Make predictions on the test set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 = svm_classifier.predict(X_test)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Evaluate the model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accuracy = accuracy_score(y_test, y_pred)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00FF"/>
                </a:solidFill>
                <a:latin typeface="Courier New"/>
                <a:ea typeface="Courier New"/>
                <a:cs typeface="Courier New"/>
                <a:sym typeface="Courier New"/>
              </a:rPr>
              <a:t>f</a:t>
            </a:r>
            <a:r>
              <a:rPr lang="en-IN" sz="1400" b="0" i="0" u="none" strike="noStrike" cap="none">
                <a:solidFill>
                  <a:srgbClr val="A31515"/>
                </a:solidFill>
                <a:latin typeface="Courier New"/>
                <a:ea typeface="Courier New"/>
                <a:cs typeface="Courier New"/>
                <a:sym typeface="Courier New"/>
              </a:rPr>
              <a:t>"Accuracy: </a:t>
            </a:r>
            <a:r>
              <a:rPr lang="en-IN" sz="1400" b="0" i="0" u="none" strike="noStrike" cap="none">
                <a:solidFill>
                  <a:srgbClr val="000000"/>
                </a:solidFill>
                <a:latin typeface="Courier New"/>
                <a:ea typeface="Courier New"/>
                <a:cs typeface="Courier New"/>
                <a:sym typeface="Courier New"/>
              </a:rPr>
              <a:t>{accuracy</a:t>
            </a:r>
            <a:r>
              <a:rPr lang="en-IN" sz="1400" b="0" i="0" u="none" strike="noStrike" cap="none">
                <a:solidFill>
                  <a:srgbClr val="116644"/>
                </a:solidFill>
                <a:latin typeface="Courier New"/>
                <a:ea typeface="Courier New"/>
                <a:cs typeface="Courier New"/>
                <a:sym typeface="Courier New"/>
              </a:rPr>
              <a:t>:.2f</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Classification Report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"\nClassification Report:"</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(classification_report(y_test, y_pred, target_names=data.target_names))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Confusion Matrix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"Confusion Matrix:"</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(confusion_matrix(y_test, y_pred))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49"/>
          <p:cNvSpPr txBox="1"/>
          <p:nvPr/>
        </p:nvSpPr>
        <p:spPr>
          <a:xfrm>
            <a:off x="1045029" y="541176"/>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pic>
        <p:nvPicPr>
          <p:cNvPr id="526" name="Google Shape;526;p49"/>
          <p:cNvPicPr preferRelativeResize="0"/>
          <p:nvPr/>
        </p:nvPicPr>
        <p:blipFill rotWithShape="1">
          <a:blip r:embed="rId3">
            <a:alphaModFix/>
          </a:blip>
          <a:srcRect/>
          <a:stretch/>
        </p:blipFill>
        <p:spPr>
          <a:xfrm>
            <a:off x="3309548" y="1657102"/>
            <a:ext cx="5572903" cy="35437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50"/>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9:</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Demonstrate simple linear regression algorithm for a regression problem. </a:t>
            </a:r>
            <a:endParaRPr sz="1800" b="0" i="0" u="none" strike="noStrike" cap="none">
              <a:solidFill>
                <a:srgbClr val="000000"/>
              </a:solidFill>
              <a:latin typeface="Arial"/>
              <a:ea typeface="Arial"/>
              <a:cs typeface="Arial"/>
              <a:sym typeface="Arial"/>
            </a:endParaRPr>
          </a:p>
        </p:txBody>
      </p:sp>
      <p:sp>
        <p:nvSpPr>
          <p:cNvPr id="532" name="Google Shape;532;p50"/>
          <p:cNvSpPr/>
          <p:nvPr/>
        </p:nvSpPr>
        <p:spPr>
          <a:xfrm>
            <a:off x="360783" y="857693"/>
            <a:ext cx="6627845" cy="289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sklearn.linear_model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LinearRegression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numpy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np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matplotlib.pyplot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plt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np.array([</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3</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4</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6</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7</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8</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9</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np.array([</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3</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7</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8</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8</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9</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12</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lreg=LinearRegression()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lreg.fit(x.reshape(</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y)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plt.scatter(x, y)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plt.plot(x, lreg.predict(x.reshape(</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color=</a:t>
            </a:r>
            <a:r>
              <a:rPr lang="en-IN" sz="1400" b="0" i="0" u="none" strike="noStrike" cap="none">
                <a:solidFill>
                  <a:srgbClr val="A31515"/>
                </a:solidFill>
                <a:latin typeface="Courier New"/>
                <a:ea typeface="Courier New"/>
                <a:cs typeface="Courier New"/>
                <a:sym typeface="Courier New"/>
              </a:rPr>
              <a:t>'red'</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plt.title(</a:t>
            </a:r>
            <a:r>
              <a:rPr lang="en-IN" sz="1400" b="0" i="0" u="none" strike="noStrike" cap="none">
                <a:solidFill>
                  <a:srgbClr val="A31515"/>
                </a:solidFill>
                <a:latin typeface="Courier New"/>
                <a:ea typeface="Courier New"/>
                <a:cs typeface="Courier New"/>
                <a:sym typeface="Courier New"/>
              </a:rPr>
              <a:t>"Linear Regression"</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plt.xlabel(</a:t>
            </a:r>
            <a:r>
              <a:rPr lang="en-IN" sz="1400" b="0" i="0" u="none" strike="noStrike" cap="none">
                <a:solidFill>
                  <a:srgbClr val="A31515"/>
                </a:solidFill>
                <a:latin typeface="Courier New"/>
                <a:ea typeface="Courier New"/>
                <a:cs typeface="Courier New"/>
                <a:sym typeface="Courier New"/>
              </a:rPr>
              <a:t>"x"</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plt.ylabel(</a:t>
            </a:r>
            <a:r>
              <a:rPr lang="en-IN" sz="1400" b="0" i="0" u="none" strike="noStrike" cap="none">
                <a:solidFill>
                  <a:srgbClr val="A31515"/>
                </a:solidFill>
                <a:latin typeface="Courier New"/>
                <a:ea typeface="Courier New"/>
                <a:cs typeface="Courier New"/>
                <a:sym typeface="Courier New"/>
              </a:rPr>
              <a:t>"y"</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plt.show()</a:t>
            </a:r>
            <a:endParaRPr/>
          </a:p>
        </p:txBody>
      </p:sp>
      <p:pic>
        <p:nvPicPr>
          <p:cNvPr id="533" name="Google Shape;533;p50"/>
          <p:cNvPicPr preferRelativeResize="0"/>
          <p:nvPr/>
        </p:nvPicPr>
        <p:blipFill rotWithShape="1">
          <a:blip r:embed="rId3">
            <a:alphaModFix/>
          </a:blip>
          <a:srcRect/>
          <a:stretch/>
        </p:blipFill>
        <p:spPr>
          <a:xfrm>
            <a:off x="6432168" y="2910037"/>
            <a:ext cx="4550451" cy="3474665"/>
          </a:xfrm>
          <a:prstGeom prst="rect">
            <a:avLst/>
          </a:prstGeom>
          <a:noFill/>
          <a:ln>
            <a:noFill/>
          </a:ln>
        </p:spPr>
      </p:pic>
      <p:sp>
        <p:nvSpPr>
          <p:cNvPr id="534" name="Google Shape;534;p50"/>
          <p:cNvSpPr txBox="1"/>
          <p:nvPr/>
        </p:nvSpPr>
        <p:spPr>
          <a:xfrm>
            <a:off x="8238930" y="2257764"/>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
        <p:nvSpPr>
          <p:cNvPr id="535" name="Google Shape;535;p50"/>
          <p:cNvSpPr txBox="1"/>
          <p:nvPr/>
        </p:nvSpPr>
        <p:spPr>
          <a:xfrm>
            <a:off x="494522" y="410841"/>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Program</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1"/>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10:</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Apply Logistic regression algorithm for a classification problem. </a:t>
            </a:r>
            <a:endParaRPr sz="1800" b="0" i="0" u="none" strike="noStrike" cap="none">
              <a:solidFill>
                <a:srgbClr val="000000"/>
              </a:solidFill>
              <a:latin typeface="Arial"/>
              <a:ea typeface="Arial"/>
              <a:cs typeface="Arial"/>
              <a:sym typeface="Arial"/>
            </a:endParaRPr>
          </a:p>
        </p:txBody>
      </p:sp>
      <p:sp>
        <p:nvSpPr>
          <p:cNvPr id="541" name="Google Shape;541;p51"/>
          <p:cNvSpPr/>
          <p:nvPr/>
        </p:nvSpPr>
        <p:spPr>
          <a:xfrm>
            <a:off x="335902" y="1075703"/>
            <a:ext cx="9601200" cy="3323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numpy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numpy.array([</a:t>
            </a:r>
            <a:r>
              <a:rPr lang="en-IN" sz="1400" b="0" i="0" u="none" strike="noStrike" cap="none">
                <a:solidFill>
                  <a:srgbClr val="116644"/>
                </a:solidFill>
                <a:latin typeface="Courier New"/>
                <a:ea typeface="Courier New"/>
                <a:cs typeface="Courier New"/>
                <a:sym typeface="Courier New"/>
              </a:rPr>
              <a:t>3.78</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2.44</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2.09</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0.14</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1.72</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1.65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4.92</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4.37</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4.96</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4.52</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3.69</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116644"/>
                </a:solidFill>
                <a:latin typeface="Courier New"/>
                <a:ea typeface="Courier New"/>
                <a:cs typeface="Courier New"/>
                <a:sym typeface="Courier New"/>
              </a:rPr>
              <a:t>5.88</a:t>
            </a:r>
            <a:r>
              <a:rPr lang="en-IN" sz="1400" b="0" i="0" u="none" strike="noStrike" cap="none">
                <a:solidFill>
                  <a:srgbClr val="000000"/>
                </a:solidFill>
                <a:latin typeface="Courier New"/>
                <a:ea typeface="Courier New"/>
                <a:cs typeface="Courier New"/>
                <a:sym typeface="Courier New"/>
              </a:rPr>
              <a:t>]).reshape(</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(X)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numpy.array([</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linear_model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logr = linear_model.LogisticRegression()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logr.fit(X,y)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predicted = logr.predict(numpy.array([</a:t>
            </a:r>
            <a:r>
              <a:rPr lang="en-IN" sz="1400" b="0" i="0" u="none" strike="noStrike" cap="none">
                <a:solidFill>
                  <a:srgbClr val="116644"/>
                </a:solidFill>
                <a:latin typeface="Courier New"/>
                <a:ea typeface="Courier New"/>
                <a:cs typeface="Courier New"/>
                <a:sym typeface="Courier New"/>
              </a:rPr>
              <a:t>3.46</a:t>
            </a:r>
            <a:r>
              <a:rPr lang="en-IN" sz="1400" b="0" i="0" u="none" strike="noStrike" cap="none">
                <a:solidFill>
                  <a:srgbClr val="000000"/>
                </a:solidFill>
                <a:latin typeface="Courier New"/>
                <a:ea typeface="Courier New"/>
                <a:cs typeface="Courier New"/>
                <a:sym typeface="Courier New"/>
              </a:rPr>
              <a:t>]).reshape(</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(predicted)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logr = linear_model.LogisticRegression()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logr.fit(X,y)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log_odds = logr.coef_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odds = numpy.exp(log_odds)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(odds) </a:t>
            </a:r>
            <a:endParaRPr/>
          </a:p>
        </p:txBody>
      </p:sp>
      <p:pic>
        <p:nvPicPr>
          <p:cNvPr id="542" name="Google Shape;542;p51"/>
          <p:cNvPicPr preferRelativeResize="0"/>
          <p:nvPr/>
        </p:nvPicPr>
        <p:blipFill rotWithShape="1">
          <a:blip r:embed="rId3">
            <a:alphaModFix/>
          </a:blip>
          <a:srcRect/>
          <a:stretch/>
        </p:blipFill>
        <p:spPr>
          <a:xfrm>
            <a:off x="9190654" y="3416376"/>
            <a:ext cx="2572109" cy="2943636"/>
          </a:xfrm>
          <a:prstGeom prst="rect">
            <a:avLst/>
          </a:prstGeom>
          <a:noFill/>
          <a:ln>
            <a:noFill/>
          </a:ln>
        </p:spPr>
      </p:pic>
      <p:sp>
        <p:nvSpPr>
          <p:cNvPr id="543" name="Google Shape;543;p51"/>
          <p:cNvSpPr txBox="1"/>
          <p:nvPr/>
        </p:nvSpPr>
        <p:spPr>
          <a:xfrm>
            <a:off x="9190654" y="3005535"/>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
        <p:nvSpPr>
          <p:cNvPr id="544" name="Google Shape;544;p51"/>
          <p:cNvSpPr txBox="1"/>
          <p:nvPr/>
        </p:nvSpPr>
        <p:spPr>
          <a:xfrm>
            <a:off x="494522" y="410841"/>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Program</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52"/>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11:</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Demonstrate Multi-layer Perceptron algorithm for a classification problem. </a:t>
            </a:r>
            <a:endParaRPr sz="1800" b="0" i="0" u="none" strike="noStrike" cap="none">
              <a:solidFill>
                <a:srgbClr val="000000"/>
              </a:solidFill>
              <a:latin typeface="Arial"/>
              <a:ea typeface="Arial"/>
              <a:cs typeface="Arial"/>
              <a:sym typeface="Arial"/>
            </a:endParaRPr>
          </a:p>
        </p:txBody>
      </p:sp>
      <p:sp>
        <p:nvSpPr>
          <p:cNvPr id="550" name="Google Shape;550;p52"/>
          <p:cNvSpPr txBox="1"/>
          <p:nvPr/>
        </p:nvSpPr>
        <p:spPr>
          <a:xfrm>
            <a:off x="494522" y="410841"/>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Program</a:t>
            </a:r>
            <a:endParaRPr sz="1800" b="0" i="0" u="none" strike="noStrike" cap="none">
              <a:solidFill>
                <a:srgbClr val="000000"/>
              </a:solidFill>
              <a:latin typeface="Arial"/>
              <a:ea typeface="Arial"/>
              <a:cs typeface="Arial"/>
              <a:sym typeface="Arial"/>
            </a:endParaRPr>
          </a:p>
        </p:txBody>
      </p:sp>
      <p:sp>
        <p:nvSpPr>
          <p:cNvPr id="551" name="Google Shape;551;p52"/>
          <p:cNvSpPr/>
          <p:nvPr/>
        </p:nvSpPr>
        <p:spPr>
          <a:xfrm>
            <a:off x="494522" y="1012322"/>
            <a:ext cx="11821885" cy="48320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Import necessary libraries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load_iris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sklearn.model_selection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train_test_split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sklearn.neural_network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MLPClassifier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sklearn.preprocessing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StandardScaler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sklearn.metrics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(accuracy_score, classification_report,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confusion_matrix, ConfusionMatrixDisplay) </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matplotlib.pyplot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plt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Load the Iris dataset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data = load_iris()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data.data  </a:t>
            </a:r>
            <a:r>
              <a:rPr lang="en-IN" sz="1400" b="0" i="0" u="none" strike="noStrike" cap="none">
                <a:solidFill>
                  <a:srgbClr val="008000"/>
                </a:solidFill>
                <a:latin typeface="Courier New"/>
                <a:ea typeface="Courier New"/>
                <a:cs typeface="Courier New"/>
                <a:sym typeface="Courier New"/>
              </a:rPr>
              <a:t># Features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 = data.target  </a:t>
            </a:r>
            <a:r>
              <a:rPr lang="en-IN" sz="1400" b="0" i="0" u="none" strike="noStrike" cap="none">
                <a:solidFill>
                  <a:srgbClr val="008000"/>
                </a:solidFill>
                <a:latin typeface="Courier New"/>
                <a:ea typeface="Courier New"/>
                <a:cs typeface="Courier New"/>
                <a:sym typeface="Courier New"/>
              </a:rPr>
              <a:t># Target labels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feature_names = data.feature_names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class_names = data.target_names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Split the data into training and testing sets (80% train, 20% test)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X_train, X_test, y_train, y_test = train_test_split(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y, test_size=</a:t>
            </a:r>
            <a:r>
              <a:rPr lang="en-IN" sz="1400" b="0" i="0" u="none" strike="noStrike" cap="none">
                <a:solidFill>
                  <a:srgbClr val="116644"/>
                </a:solidFill>
                <a:latin typeface="Courier New"/>
                <a:ea typeface="Courier New"/>
                <a:cs typeface="Courier New"/>
                <a:sym typeface="Courier New"/>
              </a:rPr>
              <a:t>0.2</a:t>
            </a: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 stratify=y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Standardize features by removing the mean and scaling to unit variance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scaler = StandardScaler()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X_train = scaler.fit_transform(X_train)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X_test = scaler.transform(X_test)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53"/>
          <p:cNvSpPr/>
          <p:nvPr/>
        </p:nvSpPr>
        <p:spPr>
          <a:xfrm>
            <a:off x="755779" y="366671"/>
            <a:ext cx="11131420" cy="59093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Initialize the MLP classifier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mlp = MLPClassifier(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hidden_layer_sizes=(</a:t>
            </a:r>
            <a:r>
              <a:rPr lang="en-IN" sz="1400" b="0" i="0" u="none" strike="noStrike" cap="none">
                <a:solidFill>
                  <a:srgbClr val="116644"/>
                </a:solidFill>
                <a:latin typeface="Courier New"/>
                <a:ea typeface="Courier New"/>
                <a:cs typeface="Courier New"/>
                <a:sym typeface="Courier New"/>
              </a:rPr>
              <a:t>100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50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Two hidden layers with 100 and 50 neurons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activation=</a:t>
            </a:r>
            <a:r>
              <a:rPr lang="en-IN" sz="1400" b="0" i="0" u="none" strike="noStrike" cap="none">
                <a:solidFill>
                  <a:srgbClr val="A31515"/>
                </a:solidFill>
                <a:latin typeface="Courier New"/>
                <a:ea typeface="Courier New"/>
                <a:cs typeface="Courier New"/>
                <a:sym typeface="Courier New"/>
              </a:rPr>
              <a:t>'relu'</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Rectified Linear Unit activation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solver=</a:t>
            </a:r>
            <a:r>
              <a:rPr lang="en-IN" sz="1400" b="0" i="0" u="none" strike="noStrike" cap="none">
                <a:solidFill>
                  <a:srgbClr val="A31515"/>
                </a:solidFill>
                <a:latin typeface="Courier New"/>
                <a:ea typeface="Courier New"/>
                <a:cs typeface="Courier New"/>
                <a:sym typeface="Courier New"/>
              </a:rPr>
              <a:t>'adam'</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Optimization algorithm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alpha=</a:t>
            </a:r>
            <a:r>
              <a:rPr lang="en-IN" sz="1400" b="0" i="0" u="none" strike="noStrike" cap="none">
                <a:solidFill>
                  <a:srgbClr val="116644"/>
                </a:solidFill>
                <a:latin typeface="Courier New"/>
                <a:ea typeface="Courier New"/>
                <a:cs typeface="Courier New"/>
                <a:sym typeface="Courier New"/>
              </a:rPr>
              <a:t>0.0001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L2 penalty (regularization term) parameter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batch_size=</a:t>
            </a:r>
            <a:r>
              <a:rPr lang="en-IN" sz="1400" b="0" i="0" u="none" strike="noStrike" cap="none">
                <a:solidFill>
                  <a:srgbClr val="A31515"/>
                </a:solidFill>
                <a:latin typeface="Courier New"/>
                <a:ea typeface="Courier New"/>
                <a:cs typeface="Courier New"/>
                <a:sym typeface="Courier New"/>
              </a:rPr>
              <a:t>'auto'</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Size of minibatches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learning_rate=</a:t>
            </a:r>
            <a:r>
              <a:rPr lang="en-IN" sz="1400" b="0" i="0" u="none" strike="noStrike" cap="none">
                <a:solidFill>
                  <a:srgbClr val="A31515"/>
                </a:solidFill>
                <a:latin typeface="Courier New"/>
                <a:ea typeface="Courier New"/>
                <a:cs typeface="Courier New"/>
                <a:sym typeface="Courier New"/>
              </a:rPr>
              <a:t>'constant'</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Learning rate schedule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learning_rate_init=</a:t>
            </a:r>
            <a:r>
              <a:rPr lang="en-IN" sz="1400" b="0" i="0" u="none" strike="noStrike" cap="none">
                <a:solidFill>
                  <a:srgbClr val="116644"/>
                </a:solidFill>
                <a:latin typeface="Courier New"/>
                <a:ea typeface="Courier New"/>
                <a:cs typeface="Courier New"/>
                <a:sym typeface="Courier New"/>
              </a:rPr>
              <a:t>0.001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Initial learning rate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max_iter=</a:t>
            </a:r>
            <a:r>
              <a:rPr lang="en-IN" sz="1400" b="0" i="0" u="none" strike="noStrike" cap="none">
                <a:solidFill>
                  <a:srgbClr val="116644"/>
                </a:solidFill>
                <a:latin typeface="Courier New"/>
                <a:ea typeface="Courier New"/>
                <a:cs typeface="Courier New"/>
                <a:sym typeface="Courier New"/>
              </a:rPr>
              <a:t>500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Maximum number of iterations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random_state=</a:t>
            </a:r>
            <a:r>
              <a:rPr lang="en-IN" sz="1400" b="0" i="0" u="none" strike="noStrike" cap="none">
                <a:solidFill>
                  <a:srgbClr val="116644"/>
                </a:solidFill>
                <a:latin typeface="Courier New"/>
                <a:ea typeface="Courier New"/>
                <a:cs typeface="Courier New"/>
                <a:sym typeface="Courier New"/>
              </a:rPr>
              <a:t>42</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Random seed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early_stopping=</a:t>
            </a:r>
            <a:r>
              <a:rPr lang="en-IN" sz="1400" b="0" i="0" u="none" strike="noStrike" cap="none">
                <a:solidFill>
                  <a:srgbClr val="0000FF"/>
                </a:solidFill>
                <a:latin typeface="Courier New"/>
                <a:ea typeface="Courier New"/>
                <a:cs typeface="Courier New"/>
                <a:sym typeface="Courier New"/>
              </a:rPr>
              <a:t>True</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Use early stopping to terminate training when validation score stops improving</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validation_fraction=</a:t>
            </a:r>
            <a:r>
              <a:rPr lang="en-IN" sz="1400" b="0" i="0" u="none" strike="noStrike" cap="none">
                <a:solidFill>
                  <a:srgbClr val="116644"/>
                </a:solidFill>
                <a:latin typeface="Courier New"/>
                <a:ea typeface="Courier New"/>
                <a:cs typeface="Courier New"/>
                <a:sym typeface="Courier New"/>
              </a:rPr>
              <a:t>0.1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Fraction of training data to set aside as validation set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Train the model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mlp.fit(X_train, y_train)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Make predictions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 = mlp.predict(X_test)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y_pred_prob = mlp.predict_proba(X_test) </a:t>
            </a:r>
            <a:endParaRPr/>
          </a:p>
          <a:p>
            <a:pPr marL="0" marR="0" lvl="0" indent="0" algn="l" rtl="0">
              <a:lnSpc>
                <a:spcPct val="100000"/>
              </a:lnSpc>
              <a:spcBef>
                <a:spcPts val="0"/>
              </a:spcBef>
              <a:spcAft>
                <a:spcPts val="0"/>
              </a:spcAft>
              <a:buNone/>
            </a:pPr>
            <a:r>
              <a:rPr lang="en-IN" sz="1400" b="0" i="0" u="none" strike="noStrike" cap="none">
                <a:solidFill>
                  <a:srgbClr val="008000"/>
                </a:solidFill>
                <a:latin typeface="Courier New"/>
                <a:ea typeface="Courier New"/>
                <a:cs typeface="Courier New"/>
                <a:sym typeface="Courier New"/>
              </a:rPr>
              <a:t># Evaluate the model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00FF"/>
                </a:solidFill>
                <a:latin typeface="Courier New"/>
                <a:ea typeface="Courier New"/>
                <a:cs typeface="Courier New"/>
                <a:sym typeface="Courier New"/>
              </a:rPr>
              <a:t>f</a:t>
            </a:r>
            <a:r>
              <a:rPr lang="en-IN" sz="1400" b="0" i="0" u="none" strike="noStrike" cap="none">
                <a:solidFill>
                  <a:srgbClr val="A31515"/>
                </a:solidFill>
                <a:latin typeface="Courier New"/>
                <a:ea typeface="Courier New"/>
                <a:cs typeface="Courier New"/>
                <a:sym typeface="Courier New"/>
              </a:rPr>
              <a:t>"Training set score: </a:t>
            </a:r>
            <a:r>
              <a:rPr lang="en-IN" sz="1400" b="0" i="0" u="none" strike="noStrike" cap="none">
                <a:solidFill>
                  <a:srgbClr val="000000"/>
                </a:solidFill>
                <a:latin typeface="Courier New"/>
                <a:ea typeface="Courier New"/>
                <a:cs typeface="Courier New"/>
                <a:sym typeface="Courier New"/>
              </a:rPr>
              <a:t>{mlp.score(X_train, y_train)</a:t>
            </a:r>
            <a:r>
              <a:rPr lang="en-IN" sz="1400" b="0" i="0" u="none" strike="noStrike" cap="none">
                <a:solidFill>
                  <a:srgbClr val="116644"/>
                </a:solidFill>
                <a:latin typeface="Courier New"/>
                <a:ea typeface="Courier New"/>
                <a:cs typeface="Courier New"/>
                <a:sym typeface="Courier New"/>
              </a:rPr>
              <a:t>:.3f</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00FF"/>
                </a:solidFill>
                <a:latin typeface="Courier New"/>
                <a:ea typeface="Courier New"/>
                <a:cs typeface="Courier New"/>
                <a:sym typeface="Courier New"/>
              </a:rPr>
              <a:t>f</a:t>
            </a:r>
            <a:r>
              <a:rPr lang="en-IN" sz="1400" b="0" i="0" u="none" strike="noStrike" cap="none">
                <a:solidFill>
                  <a:srgbClr val="A31515"/>
                </a:solidFill>
                <a:latin typeface="Courier New"/>
                <a:ea typeface="Courier New"/>
                <a:cs typeface="Courier New"/>
                <a:sym typeface="Courier New"/>
              </a:rPr>
              <a:t>"Test set score: </a:t>
            </a:r>
            <a:r>
              <a:rPr lang="en-IN" sz="1400" b="0" i="0" u="none" strike="noStrike" cap="none">
                <a:solidFill>
                  <a:srgbClr val="000000"/>
                </a:solidFill>
                <a:latin typeface="Courier New"/>
                <a:ea typeface="Courier New"/>
                <a:cs typeface="Courier New"/>
                <a:sym typeface="Courier New"/>
              </a:rPr>
              <a:t>{mlp.score(X_test, y_test)</a:t>
            </a:r>
            <a:r>
              <a:rPr lang="en-IN" sz="1400" b="0" i="0" u="none" strike="noStrike" cap="none">
                <a:solidFill>
                  <a:srgbClr val="116644"/>
                </a:solidFill>
                <a:latin typeface="Courier New"/>
                <a:ea typeface="Courier New"/>
                <a:cs typeface="Courier New"/>
                <a:sym typeface="Courier New"/>
              </a:rPr>
              <a:t>:.3f</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\n"</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"Classification Report:"</a:t>
            </a:r>
            <a:r>
              <a:rPr lang="en-IN" sz="1400" b="0" i="0" u="none" strike="noStrike" cap="none">
                <a:solidFill>
                  <a:srgbClr val="000000"/>
                </a:solidFill>
                <a:latin typeface="Courier New"/>
                <a:ea typeface="Courier New"/>
                <a:cs typeface="Courier New"/>
                <a:sym typeface="Courier New"/>
              </a:rPr>
              <a:t>) </a:t>
            </a:r>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(classification_report(y_test, y_pred, target_names=class_names))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Plot confusion matrix</a:t>
            </a:r>
            <a:endParaRPr sz="1400" b="0" i="0" u="none" strike="noStrike" cap="none">
              <a:solidFill>
                <a:srgbClr val="000000"/>
              </a:solidFill>
              <a:latin typeface="Courier New"/>
              <a:ea typeface="Courier New"/>
              <a:cs typeface="Courier New"/>
              <a:sym typeface="Courier New"/>
            </a:endParaRPr>
          </a:p>
        </p:txBody>
      </p:sp>
      <p:sp>
        <p:nvSpPr>
          <p:cNvPr id="557" name="Google Shape;557;p53"/>
          <p:cNvSpPr txBox="1"/>
          <p:nvPr/>
        </p:nvSpPr>
        <p:spPr>
          <a:xfrm>
            <a:off x="298579" y="0"/>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Program…..Contd….</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54"/>
          <p:cNvSpPr txBox="1"/>
          <p:nvPr/>
        </p:nvSpPr>
        <p:spPr>
          <a:xfrm>
            <a:off x="1045029" y="541176"/>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pic>
        <p:nvPicPr>
          <p:cNvPr id="563" name="Google Shape;563;p54"/>
          <p:cNvPicPr preferRelativeResize="0"/>
          <p:nvPr/>
        </p:nvPicPr>
        <p:blipFill rotWithShape="1">
          <a:blip r:embed="rId3">
            <a:alphaModFix/>
          </a:blip>
          <a:srcRect/>
          <a:stretch/>
        </p:blipFill>
        <p:spPr>
          <a:xfrm>
            <a:off x="2137624" y="1390261"/>
            <a:ext cx="6649564" cy="342482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5"/>
          <p:cNvSpPr txBox="1"/>
          <p:nvPr/>
        </p:nvSpPr>
        <p:spPr>
          <a:xfrm>
            <a:off x="74645" y="0"/>
            <a:ext cx="11958066" cy="1047939"/>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12:</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Implement the K-means algorithm and apply it to the data you selected. Evaluate performance by measuring the sum of the Euclidean distance of each example from its class center. Test the performance of the algorithm as a function of the parameters K. </a:t>
            </a:r>
            <a:endParaRPr sz="1800" b="0" i="0" u="none" strike="noStrike" cap="none">
              <a:solidFill>
                <a:srgbClr val="000000"/>
              </a:solidFill>
              <a:latin typeface="Arial"/>
              <a:ea typeface="Arial"/>
              <a:cs typeface="Arial"/>
              <a:sym typeface="Arial"/>
            </a:endParaRPr>
          </a:p>
        </p:txBody>
      </p:sp>
      <p:sp>
        <p:nvSpPr>
          <p:cNvPr id="569" name="Google Shape;569;p55"/>
          <p:cNvSpPr/>
          <p:nvPr/>
        </p:nvSpPr>
        <p:spPr>
          <a:xfrm>
            <a:off x="351452" y="1638945"/>
            <a:ext cx="7906139" cy="39703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numpy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np</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load_iris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000000"/>
                </a:solidFill>
                <a:latin typeface="Courier New"/>
                <a:ea typeface="Courier New"/>
                <a:cs typeface="Courier New"/>
                <a:sym typeface="Courier New"/>
              </a:rPr>
              <a:t>X = load_iris().data  </a:t>
            </a:r>
            <a:r>
              <a:rPr lang="en-IN" sz="1400" b="0" i="0" u="none" strike="noStrike" cap="none">
                <a:solidFill>
                  <a:srgbClr val="008000"/>
                </a:solidFill>
                <a:latin typeface="Courier New"/>
                <a:ea typeface="Courier New"/>
                <a:cs typeface="Courier New"/>
                <a:sym typeface="Courier New"/>
              </a:rPr>
              <a:t># selected data</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0000FF"/>
                </a:solidFill>
                <a:latin typeface="Courier New"/>
                <a:ea typeface="Courier New"/>
                <a:cs typeface="Courier New"/>
                <a:sym typeface="Courier New"/>
              </a:rPr>
              <a:t>def</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kmeans</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1080"/>
                </a:solidFill>
                <a:latin typeface="Courier New"/>
                <a:ea typeface="Courier New"/>
                <a:cs typeface="Courier New"/>
                <a:sym typeface="Courier New"/>
              </a:rPr>
              <a:t>X</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1080"/>
                </a:solidFill>
                <a:latin typeface="Courier New"/>
                <a:ea typeface="Courier New"/>
                <a:cs typeface="Courier New"/>
                <a:sym typeface="Courier New"/>
              </a:rPr>
              <a:t>K</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1080"/>
                </a:solidFill>
                <a:latin typeface="Courier New"/>
                <a:ea typeface="Courier New"/>
                <a:cs typeface="Courier New"/>
                <a:sym typeface="Courier New"/>
              </a:rPr>
              <a:t>i</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c = X[np.random.choice(</a:t>
            </a:r>
            <a:r>
              <a:rPr lang="en-IN" sz="1400" b="0" i="0" u="none" strike="noStrike" cap="none">
                <a:solidFill>
                  <a:srgbClr val="6A5221"/>
                </a:solidFill>
                <a:latin typeface="Courier New"/>
                <a:ea typeface="Courier New"/>
                <a:cs typeface="Courier New"/>
                <a:sym typeface="Courier New"/>
              </a:rPr>
              <a:t>len</a:t>
            </a:r>
            <a:r>
              <a:rPr lang="en-IN" sz="1400" b="0" i="0" u="none" strike="noStrike" cap="none">
                <a:solidFill>
                  <a:srgbClr val="000000"/>
                </a:solidFill>
                <a:latin typeface="Courier New"/>
                <a:ea typeface="Courier New"/>
                <a:cs typeface="Courier New"/>
                <a:sym typeface="Courier New"/>
              </a:rPr>
              <a:t>(X), K,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_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(i):</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l = ((X[:,</a:t>
            </a:r>
            <a:r>
              <a:rPr lang="en-IN" sz="1400" b="0" i="0" u="none" strike="noStrike" cap="none">
                <a:solidFill>
                  <a:srgbClr val="0000FF"/>
                </a:solidFill>
                <a:latin typeface="Courier New"/>
                <a:ea typeface="Courier New"/>
                <a:cs typeface="Courier New"/>
                <a:sym typeface="Courier New"/>
              </a:rPr>
              <a:t>None</a:t>
            </a:r>
            <a:r>
              <a:rPr lang="en-IN" sz="1400" b="0" i="0" u="none" strike="noStrike" cap="none">
                <a:solidFill>
                  <a:srgbClr val="000000"/>
                </a:solidFill>
                <a:latin typeface="Courier New"/>
                <a:ea typeface="Courier New"/>
                <a:cs typeface="Courier New"/>
                <a:sym typeface="Courier New"/>
              </a:rPr>
              <a:t>]-c)**</a:t>
            </a:r>
            <a:r>
              <a:rPr lang="en-IN" sz="1400" b="0" i="0" u="none" strike="noStrike" cap="none">
                <a:solidFill>
                  <a:srgbClr val="116644"/>
                </a:solidFill>
                <a:latin typeface="Courier New"/>
                <a:ea typeface="Courier New"/>
                <a:cs typeface="Courier New"/>
                <a:sym typeface="Courier New"/>
              </a:rPr>
              <a:t>2</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2</a:t>
            </a:r>
            <a:r>
              <a:rPr lang="en-IN" sz="1400" b="0" i="0" u="none" strike="noStrike" cap="none">
                <a:solidFill>
                  <a:srgbClr val="000000"/>
                </a:solidFill>
                <a:latin typeface="Courier New"/>
                <a:ea typeface="Courier New"/>
                <a:cs typeface="Courier New"/>
                <a:sym typeface="Courier New"/>
              </a:rPr>
              <a:t>).argmin(</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c = np.array([X[l==k].mean(</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k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(K)])</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9723B4"/>
                </a:solidFill>
                <a:latin typeface="Courier New"/>
                <a:ea typeface="Courier New"/>
                <a:cs typeface="Courier New"/>
                <a:sym typeface="Courier New"/>
              </a:rPr>
              <a:t>return</a:t>
            </a:r>
            <a:r>
              <a:rPr lang="en-IN" sz="1400" b="0" i="0" u="none" strike="noStrike" cap="none">
                <a:solidFill>
                  <a:srgbClr val="000000"/>
                </a:solidFill>
                <a:latin typeface="Courier New"/>
                <a:ea typeface="Courier New"/>
                <a:cs typeface="Courier New"/>
                <a:sym typeface="Courier New"/>
              </a:rPr>
              <a:t> l, c</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0000FF"/>
                </a:solidFill>
                <a:latin typeface="Courier New"/>
                <a:ea typeface="Courier New"/>
                <a:cs typeface="Courier New"/>
                <a:sym typeface="Courier New"/>
              </a:rPr>
              <a:t>def</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sse</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001080"/>
                </a:solidFill>
                <a:latin typeface="Courier New"/>
                <a:ea typeface="Courier New"/>
                <a:cs typeface="Courier New"/>
                <a:sym typeface="Courier New"/>
              </a:rPr>
              <a:t>X</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1080"/>
                </a:solidFill>
                <a:latin typeface="Courier New"/>
                <a:ea typeface="Courier New"/>
                <a:cs typeface="Courier New"/>
                <a:sym typeface="Courier New"/>
              </a:rPr>
              <a:t>l</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1080"/>
                </a:solidFill>
                <a:latin typeface="Courier New"/>
                <a:ea typeface="Courier New"/>
                <a:cs typeface="Courier New"/>
                <a:sym typeface="Courier New"/>
              </a:rPr>
              <a:t>c</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9723B4"/>
                </a:solidFill>
                <a:latin typeface="Courier New"/>
                <a:ea typeface="Courier New"/>
                <a:cs typeface="Courier New"/>
                <a:sym typeface="Courier New"/>
              </a:rPr>
              <a:t>return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(np.linalg.norm(x-c[k]) </a:t>
            </a: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x,k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zip</a:t>
            </a:r>
            <a:r>
              <a:rPr lang="en-IN" sz="1400" b="0" i="0" u="none" strike="noStrike" cap="none">
                <a:solidFill>
                  <a:srgbClr val="000000"/>
                </a:solidFill>
                <a:latin typeface="Courier New"/>
                <a:ea typeface="Courier New"/>
                <a:cs typeface="Courier New"/>
                <a:sym typeface="Courier New"/>
              </a:rPr>
              <a:t>(X,l))</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K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6</a:t>
            </a:r>
            <a:r>
              <a:rPr lang="en-IN" sz="1400" b="0" i="0" u="none" strike="noStrike" cap="none">
                <a:solidFill>
                  <a:srgbClr val="000000"/>
                </a:solidFill>
                <a:latin typeface="Courier New"/>
                <a:ea typeface="Courier New"/>
                <a:cs typeface="Courier New"/>
                <a:sym typeface="Courier New"/>
              </a:rPr>
              <a:t>):</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l,c = kmeans(X,K)</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(K, sse(X,l,c))</a:t>
            </a:r>
            <a:endParaRPr/>
          </a:p>
        </p:txBody>
      </p:sp>
      <p:sp>
        <p:nvSpPr>
          <p:cNvPr id="570" name="Google Shape;570;p55"/>
          <p:cNvSpPr txBox="1"/>
          <p:nvPr/>
        </p:nvSpPr>
        <p:spPr>
          <a:xfrm>
            <a:off x="351452" y="1228104"/>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Program</a:t>
            </a:r>
            <a:endParaRPr sz="1800" b="0" i="0" u="none" strike="noStrike" cap="none">
              <a:solidFill>
                <a:srgbClr val="000000"/>
              </a:solidFill>
              <a:latin typeface="Arial"/>
              <a:ea typeface="Arial"/>
              <a:cs typeface="Arial"/>
              <a:sym typeface="Arial"/>
            </a:endParaRPr>
          </a:p>
        </p:txBody>
      </p:sp>
      <p:sp>
        <p:nvSpPr>
          <p:cNvPr id="571" name="Google Shape;571;p55"/>
          <p:cNvSpPr txBox="1"/>
          <p:nvPr/>
        </p:nvSpPr>
        <p:spPr>
          <a:xfrm>
            <a:off x="8612156" y="4199854"/>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pic>
        <p:nvPicPr>
          <p:cNvPr id="572" name="Google Shape;572;p55"/>
          <p:cNvPicPr preferRelativeResize="0"/>
          <p:nvPr/>
        </p:nvPicPr>
        <p:blipFill rotWithShape="1">
          <a:blip r:embed="rId3">
            <a:alphaModFix/>
          </a:blip>
          <a:srcRect/>
          <a:stretch/>
        </p:blipFill>
        <p:spPr>
          <a:xfrm>
            <a:off x="8743218" y="4610695"/>
            <a:ext cx="2133898" cy="117173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56"/>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13:</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Demonstrate the use of Fuzzy C-Means Clustering. </a:t>
            </a:r>
            <a:endParaRPr sz="1800" b="0" i="0" u="none" strike="noStrike" cap="none">
              <a:solidFill>
                <a:srgbClr val="000000"/>
              </a:solidFill>
              <a:latin typeface="Arial"/>
              <a:ea typeface="Arial"/>
              <a:cs typeface="Arial"/>
              <a:sym typeface="Arial"/>
            </a:endParaRPr>
          </a:p>
        </p:txBody>
      </p:sp>
      <p:sp>
        <p:nvSpPr>
          <p:cNvPr id="578" name="Google Shape;578;p56"/>
          <p:cNvSpPr/>
          <p:nvPr/>
        </p:nvSpPr>
        <p:spPr>
          <a:xfrm>
            <a:off x="-1" y="905232"/>
            <a:ext cx="10860833" cy="289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numpy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np</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load_iris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data = load_iris() </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X = data.data  </a:t>
            </a:r>
            <a:r>
              <a:rPr lang="en-IN" sz="1400" b="0" i="0" u="none" strike="noStrike" cap="none">
                <a:solidFill>
                  <a:srgbClr val="008000"/>
                </a:solidFill>
                <a:latin typeface="Courier New"/>
                <a:ea typeface="Courier New"/>
                <a:cs typeface="Courier New"/>
                <a:sym typeface="Courier New"/>
              </a:rPr>
              <a:t># 1. Load data (first 4 features), transpose</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K, m, e, i = </a:t>
            </a:r>
            <a:r>
              <a:rPr lang="en-IN" sz="1400" b="0" i="0" u="none" strike="noStrike" cap="none">
                <a:solidFill>
                  <a:srgbClr val="116644"/>
                </a:solidFill>
                <a:latin typeface="Courier New"/>
                <a:ea typeface="Courier New"/>
                <a:cs typeface="Courier New"/>
                <a:sym typeface="Courier New"/>
              </a:rPr>
              <a:t>3</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2</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1e-5</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2. clusters, fuzziness, error, iterations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c = X[:, np.random.choice(X.shape[</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K,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3. Randomly init cluster centers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_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(i):                              </a:t>
            </a:r>
            <a:r>
              <a:rPr lang="en-IN" sz="1400" b="0" i="0" u="none" strike="noStrike" cap="none">
                <a:solidFill>
                  <a:srgbClr val="008000"/>
                </a:solidFill>
                <a:latin typeface="Courier New"/>
                <a:ea typeface="Courier New"/>
                <a:cs typeface="Courier New"/>
                <a:sym typeface="Courier New"/>
              </a:rPr>
              <a:t># 4. Repeat update steps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d = np.linalg.norm(X[:, :, </a:t>
            </a:r>
            <a:r>
              <a:rPr lang="en-IN" sz="1400" b="0" i="0" u="none" strike="noStrike" cap="none">
                <a:solidFill>
                  <a:srgbClr val="0000FF"/>
                </a:solidFill>
                <a:latin typeface="Courier New"/>
                <a:ea typeface="Courier New"/>
                <a:cs typeface="Courier New"/>
                <a:sym typeface="Courier New"/>
              </a:rPr>
              <a:t>None</a:t>
            </a:r>
            <a:r>
              <a:rPr lang="en-IN" sz="1400" b="0" i="0" u="none" strike="noStrike" cap="none">
                <a:solidFill>
                  <a:srgbClr val="000000"/>
                </a:solidFill>
                <a:latin typeface="Courier New"/>
                <a:ea typeface="Courier New"/>
                <a:cs typeface="Courier New"/>
                <a:sym typeface="Courier New"/>
              </a:rPr>
              <a:t>]-c[:, </a:t>
            </a:r>
            <a:r>
              <a:rPr lang="en-IN" sz="1400" b="0" i="0" u="none" strike="noStrike" cap="none">
                <a:solidFill>
                  <a:srgbClr val="0000FF"/>
                </a:solidFill>
                <a:latin typeface="Courier New"/>
                <a:ea typeface="Courier New"/>
                <a:cs typeface="Courier New"/>
                <a:sym typeface="Courier New"/>
              </a:rPr>
              <a:t>None</a:t>
            </a:r>
            <a:r>
              <a:rPr lang="en-IN" sz="1400" b="0" i="0" u="none" strike="noStrike" cap="none">
                <a:solidFill>
                  <a:srgbClr val="000000"/>
                </a:solidFill>
                <a:latin typeface="Courier New"/>
                <a:ea typeface="Courier New"/>
                <a:cs typeface="Courier New"/>
                <a:sym typeface="Courier New"/>
              </a:rPr>
              <a:t>], axis=</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 </a:t>
            </a:r>
            <a:r>
              <a:rPr lang="en-IN" sz="1400" b="0" i="0" u="none" strike="noStrike" cap="none">
                <a:solidFill>
                  <a:srgbClr val="116644"/>
                </a:solidFill>
                <a:latin typeface="Courier New"/>
                <a:ea typeface="Courier New"/>
                <a:cs typeface="Courier New"/>
                <a:sym typeface="Courier New"/>
              </a:rPr>
              <a:t>1e-9</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5. Distance matrix</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u = </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 d**(</a:t>
            </a:r>
            <a:r>
              <a:rPr lang="en-IN" sz="1400" b="0" i="0" u="none" strike="noStrike" cap="none">
                <a:solidFill>
                  <a:srgbClr val="116644"/>
                </a:solidFill>
                <a:latin typeface="Courier New"/>
                <a:ea typeface="Courier New"/>
                <a:cs typeface="Courier New"/>
                <a:sym typeface="Courier New"/>
              </a:rPr>
              <a:t>2</a:t>
            </a:r>
            <a:r>
              <a:rPr lang="en-IN" sz="1400" b="0" i="0" u="none" strike="noStrike" cap="none">
                <a:solidFill>
                  <a:srgbClr val="000000"/>
                </a:solidFill>
                <a:latin typeface="Courier New"/>
                <a:ea typeface="Courier New"/>
                <a:cs typeface="Courier New"/>
                <a:sym typeface="Courier New"/>
              </a:rPr>
              <a:t>/(m</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6. Compute membership (unnormalized)</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u = u / u.</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keepdims=</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7. Normalize memberships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c = (X @ (u**m)) / (u**m).</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8. Update cluster centers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labels = u.argmax(</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9. Final cluster labels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(labels, </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(d[n, labels[n]] </a:t>
            </a: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n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6A5221"/>
                </a:solidFill>
                <a:latin typeface="Courier New"/>
                <a:ea typeface="Courier New"/>
                <a:cs typeface="Courier New"/>
                <a:sym typeface="Courier New"/>
              </a:rPr>
              <a:t>len</a:t>
            </a:r>
            <a:r>
              <a:rPr lang="en-IN" sz="1400" b="0" i="0" u="none" strike="noStrike" cap="none">
                <a:solidFill>
                  <a:srgbClr val="000000"/>
                </a:solidFill>
                <a:latin typeface="Courier New"/>
                <a:ea typeface="Courier New"/>
                <a:cs typeface="Courier New"/>
                <a:sym typeface="Courier New"/>
              </a:rPr>
              <a:t>(labels))))  </a:t>
            </a:r>
            <a:r>
              <a:rPr lang="en-IN" sz="1400" b="0" i="0" u="none" strike="noStrike" cap="none">
                <a:solidFill>
                  <a:srgbClr val="008000"/>
                </a:solidFill>
                <a:latin typeface="Courier New"/>
                <a:ea typeface="Courier New"/>
                <a:cs typeface="Courier New"/>
                <a:sym typeface="Courier New"/>
              </a:rPr>
              <a:t>#10. Labels + performance</a:t>
            </a:r>
            <a:endParaRPr sz="1400" b="0" i="0" u="none" strike="noStrike" cap="none">
              <a:solidFill>
                <a:srgbClr val="000000"/>
              </a:solidFill>
              <a:latin typeface="Courier New"/>
              <a:ea typeface="Courier New"/>
              <a:cs typeface="Courier New"/>
              <a:sym typeface="Courier New"/>
            </a:endParaRPr>
          </a:p>
        </p:txBody>
      </p:sp>
      <p:sp>
        <p:nvSpPr>
          <p:cNvPr id="579" name="Google Shape;579;p56"/>
          <p:cNvSpPr txBox="1"/>
          <p:nvPr/>
        </p:nvSpPr>
        <p:spPr>
          <a:xfrm>
            <a:off x="8612156" y="4199854"/>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pic>
        <p:nvPicPr>
          <p:cNvPr id="580" name="Google Shape;580;p56"/>
          <p:cNvPicPr preferRelativeResize="0"/>
          <p:nvPr/>
        </p:nvPicPr>
        <p:blipFill rotWithShape="1">
          <a:blip r:embed="rId3">
            <a:alphaModFix/>
          </a:blip>
          <a:srcRect/>
          <a:stretch/>
        </p:blipFill>
        <p:spPr>
          <a:xfrm>
            <a:off x="7855900" y="4755006"/>
            <a:ext cx="2619741" cy="25721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7"/>
          <p:cNvSpPr txBox="1"/>
          <p:nvPr/>
        </p:nvSpPr>
        <p:spPr>
          <a:xfrm>
            <a:off x="74645" y="0"/>
            <a:ext cx="11958066"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Exp 14:</a:t>
            </a:r>
            <a:r>
              <a:rPr lang="en-IN" sz="1800" b="0" i="0" u="none" strike="noStrike" cap="none">
                <a:solidFill>
                  <a:srgbClr val="000000"/>
                </a:solidFill>
                <a:latin typeface="Times New Roman"/>
                <a:ea typeface="Times New Roman"/>
                <a:cs typeface="Times New Roman"/>
                <a:sym typeface="Times New Roman"/>
              </a:rPr>
              <a:t> </a:t>
            </a:r>
            <a:r>
              <a:rPr lang="en-IN" sz="1800" b="0" i="0" u="none" strike="noStrike" cap="none">
                <a:solidFill>
                  <a:srgbClr val="000000"/>
                </a:solidFill>
                <a:latin typeface="Arial"/>
                <a:ea typeface="Arial"/>
                <a:cs typeface="Arial"/>
                <a:sym typeface="Arial"/>
              </a:rPr>
              <a:t>Demonstrate the use of Expectation Maximization based clustering algorithm. </a:t>
            </a:r>
            <a:endParaRPr sz="1800" b="0" i="0" u="none" strike="noStrike" cap="none">
              <a:solidFill>
                <a:srgbClr val="000000"/>
              </a:solidFill>
              <a:latin typeface="Arial"/>
              <a:ea typeface="Arial"/>
              <a:cs typeface="Arial"/>
              <a:sym typeface="Arial"/>
            </a:endParaRPr>
          </a:p>
        </p:txBody>
      </p:sp>
      <p:sp>
        <p:nvSpPr>
          <p:cNvPr id="586" name="Google Shape;586;p57"/>
          <p:cNvSpPr/>
          <p:nvPr/>
        </p:nvSpPr>
        <p:spPr>
          <a:xfrm>
            <a:off x="205274" y="605022"/>
            <a:ext cx="11696808" cy="48320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numpy </a:t>
            </a:r>
            <a:r>
              <a:rPr lang="en-IN" sz="1400" b="0" i="0" u="none" strike="noStrike" cap="none">
                <a:solidFill>
                  <a:srgbClr val="9723B4"/>
                </a:solidFill>
                <a:latin typeface="Courier New"/>
                <a:ea typeface="Courier New"/>
                <a:cs typeface="Courier New"/>
                <a:sym typeface="Courier New"/>
              </a:rPr>
              <a:t>as</a:t>
            </a:r>
            <a:r>
              <a:rPr lang="en-IN" sz="1400" b="0" i="0" u="none" strike="noStrike" cap="none">
                <a:solidFill>
                  <a:srgbClr val="000000"/>
                </a:solidFill>
                <a:latin typeface="Courier New"/>
                <a:ea typeface="Courier New"/>
                <a:cs typeface="Courier New"/>
                <a:sym typeface="Courier New"/>
              </a:rPr>
              <a:t> np</a:t>
            </a:r>
            <a:endParaRPr/>
          </a:p>
          <a:p>
            <a:pPr marL="0" marR="0" lvl="0" indent="0" algn="l" rtl="0">
              <a:lnSpc>
                <a:spcPct val="100000"/>
              </a:lnSpc>
              <a:spcBef>
                <a:spcPts val="0"/>
              </a:spcBef>
              <a:spcAft>
                <a:spcPts val="0"/>
              </a:spcAft>
              <a:buNone/>
            </a:pPr>
            <a:r>
              <a:rPr lang="en-IN" sz="1400" b="0" i="0" u="none" strike="noStrike" cap="none">
                <a:solidFill>
                  <a:srgbClr val="9723B4"/>
                </a:solidFill>
                <a:latin typeface="Courier New"/>
                <a:ea typeface="Courier New"/>
                <a:cs typeface="Courier New"/>
                <a:sym typeface="Courier New"/>
              </a:rPr>
              <a:t>from</a:t>
            </a:r>
            <a:r>
              <a:rPr lang="en-IN" sz="1400" b="0" i="0" u="none" strike="noStrike" cap="none">
                <a:solidFill>
                  <a:srgbClr val="000000"/>
                </a:solidFill>
                <a:latin typeface="Courier New"/>
                <a:ea typeface="Courier New"/>
                <a:cs typeface="Courier New"/>
                <a:sym typeface="Courier New"/>
              </a:rPr>
              <a:t> sklearn.datasets </a:t>
            </a:r>
            <a:r>
              <a:rPr lang="en-IN" sz="1400" b="0" i="0" u="none" strike="noStrike" cap="none">
                <a:solidFill>
                  <a:srgbClr val="9723B4"/>
                </a:solidFill>
                <a:latin typeface="Courier New"/>
                <a:ea typeface="Courier New"/>
                <a:cs typeface="Courier New"/>
                <a:sym typeface="Courier New"/>
              </a:rPr>
              <a:t>import</a:t>
            </a:r>
            <a:r>
              <a:rPr lang="en-IN" sz="1400" b="0" i="0" u="none" strike="noStrike" cap="none">
                <a:solidFill>
                  <a:srgbClr val="000000"/>
                </a:solidFill>
                <a:latin typeface="Courier New"/>
                <a:ea typeface="Courier New"/>
                <a:cs typeface="Courier New"/>
                <a:sym typeface="Courier New"/>
              </a:rPr>
              <a:t> load_iris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000000"/>
                </a:solidFill>
                <a:latin typeface="Courier New"/>
                <a:ea typeface="Courier New"/>
                <a:cs typeface="Courier New"/>
                <a:sym typeface="Courier New"/>
              </a:rPr>
              <a:t>X = load_iris().data        </a:t>
            </a:r>
            <a:r>
              <a:rPr lang="en-IN" sz="1400" b="0" i="0" u="none" strike="noStrike" cap="none">
                <a:solidFill>
                  <a:srgbClr val="008000"/>
                </a:solidFill>
                <a:latin typeface="Courier New"/>
                <a:ea typeface="Courier New"/>
                <a:cs typeface="Courier New"/>
                <a:sym typeface="Courier New"/>
              </a:rPr>
              <a:t># Load dataset (150 flowers, 4 features)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K = </a:t>
            </a:r>
            <a:r>
              <a:rPr lang="en-IN" sz="1400" b="0" i="0" u="none" strike="noStrike" cap="none">
                <a:solidFill>
                  <a:srgbClr val="116644"/>
                </a:solidFill>
                <a:latin typeface="Courier New"/>
                <a:ea typeface="Courier New"/>
                <a:cs typeface="Courier New"/>
                <a:sym typeface="Courier New"/>
              </a:rPr>
              <a:t>3</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We want 3 clusters (groups)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n, d = X.shape              </a:t>
            </a:r>
            <a:r>
              <a:rPr lang="en-IN" sz="1400" b="0" i="0" u="none" strike="noStrike" cap="none">
                <a:solidFill>
                  <a:srgbClr val="008000"/>
                </a:solidFill>
                <a:latin typeface="Courier New"/>
                <a:ea typeface="Courier New"/>
                <a:cs typeface="Courier New"/>
                <a:sym typeface="Courier New"/>
              </a:rPr>
              <a:t># n=samples, d=features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p = np.ones((n, K))/K       </a:t>
            </a:r>
            <a:r>
              <a:rPr lang="en-IN" sz="1400" b="0" i="0" u="none" strike="noStrike" cap="none">
                <a:solidFill>
                  <a:srgbClr val="008000"/>
                </a:solidFill>
                <a:latin typeface="Courier New"/>
                <a:ea typeface="Courier New"/>
                <a:cs typeface="Courier New"/>
                <a:sym typeface="Courier New"/>
              </a:rPr>
              <a:t># Start: each point has equal chance in each cluster</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m = X[np.random.choice(n, K, </a:t>
            </a:r>
            <a:r>
              <a:rPr lang="en-IN" sz="1400" b="0" i="0" u="none" strike="noStrike" cap="none">
                <a:solidFill>
                  <a:srgbClr val="116644"/>
                </a:solidFill>
                <a:latin typeface="Courier New"/>
                <a:ea typeface="Courier New"/>
                <a:cs typeface="Courier New"/>
                <a:sym typeface="Courier New"/>
              </a:rPr>
              <a:t>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Pick random points as initial cluster centers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s = np.array([np.eye(d)]*K) </a:t>
            </a:r>
            <a:r>
              <a:rPr lang="en-IN" sz="1400" b="0" i="0" u="none" strike="noStrike" cap="none">
                <a:solidFill>
                  <a:srgbClr val="008000"/>
                </a:solidFill>
                <a:latin typeface="Courier New"/>
                <a:ea typeface="Courier New"/>
                <a:cs typeface="Courier New"/>
                <a:sym typeface="Courier New"/>
              </a:rPr>
              <a:t># Start: clusters are assumed circular (identity matrix)</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_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10</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Repeat 10 times to improve clusters</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k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(K):      </a:t>
            </a:r>
            <a:r>
              <a:rPr lang="en-IN" sz="1400" b="0" i="0" u="none" strike="noStrike" cap="none">
                <a:solidFill>
                  <a:srgbClr val="008000"/>
                </a:solidFill>
                <a:latin typeface="Courier New"/>
                <a:ea typeface="Courier New"/>
                <a:cs typeface="Courier New"/>
                <a:sym typeface="Courier New"/>
              </a:rPr>
              <a:t># ----- E STEP (Expectation)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diff = X - m[k]     </a:t>
            </a:r>
            <a:r>
              <a:rPr lang="en-IN" sz="1400" b="0" i="0" u="none" strike="noStrike" cap="none">
                <a:solidFill>
                  <a:srgbClr val="008000"/>
                </a:solidFill>
                <a:latin typeface="Courier New"/>
                <a:ea typeface="Courier New"/>
                <a:cs typeface="Courier New"/>
                <a:sym typeface="Courier New"/>
              </a:rPr>
              <a:t># Distance of all points from cluster k mean</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p[:,k] = np.exp(</a:t>
            </a:r>
            <a:r>
              <a:rPr lang="en-IN" sz="1400" b="0" i="0" u="none" strike="noStrike" cap="none">
                <a:solidFill>
                  <a:srgbClr val="116644"/>
                </a:solidFill>
                <a:latin typeface="Courier New"/>
                <a:ea typeface="Courier New"/>
                <a:cs typeface="Courier New"/>
                <a:sym typeface="Courier New"/>
              </a:rPr>
              <a:t>-.5</a:t>
            </a:r>
            <a:r>
              <a:rPr lang="en-IN" sz="1400" b="0" i="0" u="none" strike="noStrike" cap="none">
                <a:solidFill>
                  <a:srgbClr val="000000"/>
                </a:solidFill>
                <a:latin typeface="Courier New"/>
                <a:ea typeface="Courier New"/>
                <a:cs typeface="Courier New"/>
                <a:sym typeface="Courier New"/>
              </a:rPr>
              <a:t>*np.</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(diff@np.linalg.inv(s[k])*diff,</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))/np.sqrt(np.linalg.det(s[k]))</a:t>
            </a:r>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p /= p.</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keepdims=</a:t>
            </a:r>
            <a:r>
              <a:rPr lang="en-IN" sz="1400" b="0" i="0" u="none" strike="noStrike" cap="none">
                <a:solidFill>
                  <a:srgbClr val="0000FF"/>
                </a:solidFill>
                <a:latin typeface="Courier New"/>
                <a:ea typeface="Courier New"/>
                <a:cs typeface="Courier New"/>
                <a:sym typeface="Courier New"/>
              </a:rPr>
              <a:t>True</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Convert to real probability (sum of each row = 1)</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9723B4"/>
                </a:solidFill>
                <a:latin typeface="Courier New"/>
                <a:ea typeface="Courier New"/>
                <a:cs typeface="Courier New"/>
                <a:sym typeface="Courier New"/>
              </a:rPr>
              <a:t>for</a:t>
            </a:r>
            <a:r>
              <a:rPr lang="en-IN" sz="1400" b="0" i="0" u="none" strike="noStrike" cap="none">
                <a:solidFill>
                  <a:srgbClr val="000000"/>
                </a:solidFill>
                <a:latin typeface="Courier New"/>
                <a:ea typeface="Courier New"/>
                <a:cs typeface="Courier New"/>
                <a:sym typeface="Courier New"/>
              </a:rPr>
              <a:t> k </a:t>
            </a:r>
            <a:r>
              <a:rPr lang="en-IN" sz="1400" b="0" i="0" u="none" strike="noStrike" cap="none">
                <a:solidFill>
                  <a:srgbClr val="0000FF"/>
                </a:solidFill>
                <a:latin typeface="Courier New"/>
                <a:ea typeface="Courier New"/>
                <a:cs typeface="Courier New"/>
                <a:sym typeface="Courier New"/>
              </a:rPr>
              <a:t>in</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6A5221"/>
                </a:solidFill>
                <a:latin typeface="Courier New"/>
                <a:ea typeface="Courier New"/>
                <a:cs typeface="Courier New"/>
                <a:sym typeface="Courier New"/>
              </a:rPr>
              <a:t>range</a:t>
            </a:r>
            <a:r>
              <a:rPr lang="en-IN" sz="1400" b="0" i="0" u="none" strike="noStrike" cap="none">
                <a:solidFill>
                  <a:srgbClr val="000000"/>
                </a:solidFill>
                <a:latin typeface="Courier New"/>
                <a:ea typeface="Courier New"/>
                <a:cs typeface="Courier New"/>
                <a:sym typeface="Courier New"/>
              </a:rPr>
              <a:t>(K):      </a:t>
            </a:r>
            <a:r>
              <a:rPr lang="en-IN" sz="1400" b="0" i="0" u="none" strike="noStrike" cap="none">
                <a:solidFill>
                  <a:srgbClr val="008000"/>
                </a:solidFill>
                <a:latin typeface="Courier New"/>
                <a:ea typeface="Courier New"/>
                <a:cs typeface="Courier New"/>
                <a:sym typeface="Courier New"/>
              </a:rPr>
              <a:t># ----- M STEP (Maximization) -----</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w = p[:,k]          </a:t>
            </a:r>
            <a:r>
              <a:rPr lang="en-IN" sz="1400" b="0" i="0" u="none" strike="noStrike" cap="none">
                <a:solidFill>
                  <a:srgbClr val="008000"/>
                </a:solidFill>
                <a:latin typeface="Courier New"/>
                <a:ea typeface="Courier New"/>
                <a:cs typeface="Courier New"/>
                <a:sym typeface="Courier New"/>
              </a:rPr>
              <a:t># Weight = how much each point belongs to cluster k</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m[k] = (w@X)/w.</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Update cluster center (mean)</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s[k] = ((X-m[k]).T*(w/w.</a:t>
            </a:r>
            <a:r>
              <a:rPr lang="en-IN" sz="1400" b="0" i="0" u="none" strike="noStrike" cap="none">
                <a:solidFill>
                  <a:srgbClr val="6A5221"/>
                </a:solidFill>
                <a:latin typeface="Courier New"/>
                <a:ea typeface="Courier New"/>
                <a:cs typeface="Courier New"/>
                <a:sym typeface="Courier New"/>
              </a:rPr>
              <a:t>sum</a:t>
            </a:r>
            <a:r>
              <a:rPr lang="en-IN" sz="1400" b="0" i="0" u="none" strike="noStrike" cap="none">
                <a:solidFill>
                  <a:srgbClr val="000000"/>
                </a:solidFill>
                <a:latin typeface="Courier New"/>
                <a:ea typeface="Courier New"/>
                <a:cs typeface="Courier New"/>
                <a:sym typeface="Courier New"/>
              </a:rPr>
              <a:t>()))@(X-m[k])  </a:t>
            </a:r>
            <a:r>
              <a:rPr lang="en-IN" sz="1400" b="0" i="0" u="none" strike="noStrike" cap="none">
                <a:solidFill>
                  <a:srgbClr val="008000"/>
                </a:solidFill>
                <a:latin typeface="Courier New"/>
                <a:ea typeface="Courier New"/>
                <a:cs typeface="Courier New"/>
                <a:sym typeface="Courier New"/>
              </a:rPr>
              <a:t># Update cluster shape/spread</a:t>
            </a:r>
            <a:endParaRPr sz="1400" b="0"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IN" sz="1400" b="0" i="0" u="none" strike="noStrike" cap="none">
                <a:solidFill>
                  <a:srgbClr val="000000"/>
                </a:solidFill>
                <a:latin typeface="Courier New"/>
                <a:ea typeface="Courier New"/>
                <a:cs typeface="Courier New"/>
                <a:sym typeface="Courier New"/>
              </a:rPr>
              <a:t/>
            </a:r>
            <a:br>
              <a:rPr lang="en-IN" sz="1400" b="0" i="0" u="none" strike="noStrike" cap="none">
                <a:solidFill>
                  <a:srgbClr val="000000"/>
                </a:solidFill>
                <a:latin typeface="Courier New"/>
                <a:ea typeface="Courier New"/>
                <a:cs typeface="Courier New"/>
                <a:sym typeface="Courier New"/>
              </a:rPr>
            </a:br>
            <a:r>
              <a:rPr lang="en-IN" sz="1400" b="0" i="0" u="none" strike="noStrike" cap="none">
                <a:solidFill>
                  <a:srgbClr val="6A5221"/>
                </a:solidFill>
                <a:latin typeface="Courier New"/>
                <a:ea typeface="Courier New"/>
                <a:cs typeface="Courier New"/>
                <a:sym typeface="Courier New"/>
              </a:rPr>
              <a:t>print</a:t>
            </a:r>
            <a:r>
              <a:rPr lang="en-IN" sz="1400" b="0" i="0" u="none" strike="noStrike" cap="none">
                <a:solidFill>
                  <a:srgbClr val="000000"/>
                </a:solidFill>
                <a:latin typeface="Courier New"/>
                <a:ea typeface="Courier New"/>
                <a:cs typeface="Courier New"/>
                <a:sym typeface="Courier New"/>
              </a:rPr>
              <a:t>(</a:t>
            </a:r>
            <a:r>
              <a:rPr lang="en-IN" sz="1400" b="0" i="0" u="none" strike="noStrike" cap="none">
                <a:solidFill>
                  <a:srgbClr val="A31515"/>
                </a:solidFill>
                <a:latin typeface="Courier New"/>
                <a:ea typeface="Courier New"/>
                <a:cs typeface="Courier New"/>
                <a:sym typeface="Courier New"/>
              </a:rPr>
              <a:t>"Cluster labels:"</a:t>
            </a:r>
            <a:r>
              <a:rPr lang="en-IN" sz="1400" b="0" i="0" u="none" strike="noStrike" cap="none">
                <a:solidFill>
                  <a:srgbClr val="000000"/>
                </a:solidFill>
                <a:latin typeface="Courier New"/>
                <a:ea typeface="Courier New"/>
                <a:cs typeface="Courier New"/>
                <a:sym typeface="Courier New"/>
              </a:rPr>
              <a:t>, p.argmax(</a:t>
            </a:r>
            <a:r>
              <a:rPr lang="en-IN" sz="1400" b="0" i="0" u="none" strike="noStrike" cap="none">
                <a:solidFill>
                  <a:srgbClr val="116644"/>
                </a:solidFill>
                <a:latin typeface="Courier New"/>
                <a:ea typeface="Courier New"/>
                <a:cs typeface="Courier New"/>
                <a:sym typeface="Courier New"/>
              </a:rPr>
              <a:t>1</a:t>
            </a:r>
            <a:r>
              <a:rPr lang="en-IN" sz="1400" b="0" i="0" u="none" strike="noStrike" cap="none">
                <a:solidFill>
                  <a:srgbClr val="000000"/>
                </a:solidFill>
                <a:latin typeface="Courier New"/>
                <a:ea typeface="Courier New"/>
                <a:cs typeface="Courier New"/>
                <a:sym typeface="Courier New"/>
              </a:rPr>
              <a:t>))  </a:t>
            </a:r>
            <a:r>
              <a:rPr lang="en-IN" sz="1400" b="0" i="0" u="none" strike="noStrike" cap="none">
                <a:solidFill>
                  <a:srgbClr val="008000"/>
                </a:solidFill>
                <a:latin typeface="Courier New"/>
                <a:ea typeface="Courier New"/>
                <a:cs typeface="Courier New"/>
                <a:sym typeface="Courier New"/>
              </a:rPr>
              <a:t># Final group = cluster with highest probability</a:t>
            </a:r>
            <a:endParaRPr sz="1400" b="0" i="0" u="none" strike="noStrike" cap="none">
              <a:solidFill>
                <a:srgbClr val="000000"/>
              </a:solidFill>
              <a:latin typeface="Courier New"/>
              <a:ea typeface="Courier New"/>
              <a:cs typeface="Courier New"/>
              <a:sym typeface="Courier New"/>
            </a:endParaRPr>
          </a:p>
        </p:txBody>
      </p:sp>
      <p:pic>
        <p:nvPicPr>
          <p:cNvPr id="587" name="Google Shape;587;p57"/>
          <p:cNvPicPr preferRelativeResize="0"/>
          <p:nvPr/>
        </p:nvPicPr>
        <p:blipFill rotWithShape="1">
          <a:blip r:embed="rId3">
            <a:alphaModFix/>
          </a:blip>
          <a:srcRect/>
          <a:stretch/>
        </p:blipFill>
        <p:spPr>
          <a:xfrm>
            <a:off x="2646558" y="5631295"/>
            <a:ext cx="8802328" cy="1076475"/>
          </a:xfrm>
          <a:prstGeom prst="rect">
            <a:avLst/>
          </a:prstGeom>
          <a:noFill/>
          <a:ln>
            <a:noFill/>
          </a:ln>
        </p:spPr>
      </p:pic>
      <p:sp>
        <p:nvSpPr>
          <p:cNvPr id="588" name="Google Shape;588;p57"/>
          <p:cNvSpPr txBox="1"/>
          <p:nvPr/>
        </p:nvSpPr>
        <p:spPr>
          <a:xfrm>
            <a:off x="1156996" y="5631295"/>
            <a:ext cx="2396023" cy="410841"/>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IN" sz="1800" b="1" i="0" u="none" strike="noStrike" cap="none">
                <a:solidFill>
                  <a:srgbClr val="000000"/>
                </a:solidFill>
                <a:latin typeface="Times New Roman"/>
                <a:ea typeface="Times New Roman"/>
                <a:cs typeface="Times New Roman"/>
                <a:sym typeface="Times New Roman"/>
              </a:rPr>
              <a:t>Output</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8"/>
          <p:cNvSpPr txBox="1">
            <a:spLocks noGrp="1"/>
          </p:cNvSpPr>
          <p:nvPr>
            <p:ph type="ctrTitle"/>
          </p:nvPr>
        </p:nvSpPr>
        <p:spPr>
          <a:xfrm>
            <a:off x="1508760" y="1987296"/>
            <a:ext cx="8741664" cy="1972056"/>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IN" sz="8800" i="1">
                <a:latin typeface="Bell MT"/>
                <a:ea typeface="Bell MT"/>
                <a:cs typeface="Bell MT"/>
                <a:sym typeface="Bell MT"/>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1400</Words>
  <PresentationFormat>Custom</PresentationFormat>
  <Paragraphs>500</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Inter</vt:lpstr>
      <vt:lpstr>Calibri</vt:lpstr>
      <vt:lpstr>Times New Roman</vt:lpstr>
      <vt:lpstr>Courier New</vt:lpstr>
      <vt:lpstr>Bell MT</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PUTTI VENKATA SIVA TEJA</dc:creator>
  <cp:lastModifiedBy>User</cp:lastModifiedBy>
  <cp:revision>1</cp:revision>
  <dcterms:modified xsi:type="dcterms:W3CDTF">2026-03-10T08:48:44Z</dcterms:modified>
</cp:coreProperties>
</file>